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package/2006/relationships/metadata/thumbnail" Target="docProps/thumbnail.jpeg"/></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 id="332" r:id="rId39"/>
    <p:sldId id="334" r:id="rId40"/>
    <p:sldId id="336" r:id="rId41"/>
    <p:sldId id="338" r:id="rId42"/>
    <p:sldId id="340" r:id="rId43"/>
    <p:sldId id="342" r:id="rId44"/>
    <p:sldId id="344" r:id="rId45"/>
    <p:sldId id="346" r:id="rId46"/>
    <p:sldId id="348" r:id="rId47"/>
    <p:sldId id="350" r:id="rId48"/>
    <p:sldId id="352" r:id="rId49"/>
    <p:sldId id="354" r:id="rId50"/>
    <p:sldId id="356" r:id="rId51"/>
    <p:sldId id="358" r:id="rId52"/>
    <p:sldId id="360" r:id="rId53"/>
  </p:sldIdLst>
  <p:sldSz cx="12192120" cy="6858000"/>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6" Type="http://schemas.openxmlformats.org/officeDocument/2006/relationships/slide" Target="slides/slide15.xml"/><Relationship Id="rId2" Type="http://schemas.openxmlformats.org/officeDocument/2006/relationships/slide" Target="slides/slide1.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51" Type="http://schemas.openxmlformats.org/officeDocument/2006/relationships/slide" Target="slides/slide50.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6.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7.xlsx" /></Relationships>
</file>

<file path=ppt/charts/_rels/chart7.xml.rels>&#65279;<?xml version="1.0" encoding="utf-8" standalone="yes"?><Relationships xmlns="http://schemas.openxmlformats.org/package/2006/relationships"><Relationship Id="rId1" Type="http://schemas.openxmlformats.org/officeDocument/2006/relationships/package" Target="../embeddings/Microsoft_Excel_Worksheet8.xlsx" /></Relationships>
</file>

<file path=ppt/charts/_rels/chart8.xml.rels>&#65279;<?xml version="1.0" encoding="utf-8" standalone="yes"?><Relationships xmlns="http://schemas.openxmlformats.org/package/2006/relationships"><Relationship Id="rId1" Type="http://schemas.openxmlformats.org/officeDocument/2006/relationships/package" Target="../embeddings/Microsoft_Excel_Worksheet9.xlsx" /></Relationships>
</file>

<file path=ppt/charts/_rels/chart9.xml.rels>&#65279;<?xml version="1.0" encoding="utf-8" standalone="yes"?><Relationships xmlns="http://schemas.openxmlformats.org/package/2006/relationships"><Relationship Id="rId1" Type="http://schemas.openxmlformats.org/officeDocument/2006/relationships/package" Target="../embeddings/Microsoft_Excel_Worksheet10.xlsx" /></Relationships>
</file>

<file path=ppt/charts/_rels/chart10.xml.rels>&#65279;<?xml version="1.0" encoding="utf-8" standalone="yes"?><Relationships xmlns="http://schemas.openxmlformats.org/package/2006/relationships"><Relationship Id="rId1" Type="http://schemas.openxmlformats.org/officeDocument/2006/relationships/package" Target="../embeddings/Microsoft_Excel_Worksheet11.xlsx" /></Relationships>
</file>

<file path=ppt/charts/_rels/chart11.xml.rels>&#65279;<?xml version="1.0" encoding="utf-8" standalone="yes"?><Relationships xmlns="http://schemas.openxmlformats.org/package/2006/relationships"><Relationship Id="rId1" Type="http://schemas.openxmlformats.org/officeDocument/2006/relationships/package" Target="../embeddings/Microsoft_Excel_Worksheet12.xlsx" /></Relationships>
</file>

<file path=ppt/charts/_rels/chart12.xml.rels>&#65279;<?xml version="1.0" encoding="utf-8" standalone="yes"?><Relationships xmlns="http://schemas.openxmlformats.org/package/2006/relationships"><Relationship Id="rId1" Type="http://schemas.openxmlformats.org/officeDocument/2006/relationships/package" Target="../embeddings/Microsoft_Excel_Worksheet13.xlsx" /></Relationships>
</file>

<file path=ppt/charts/_rels/chart13.xml.rels>&#65279;<?xml version="1.0" encoding="utf-8" standalone="yes"?><Relationships xmlns="http://schemas.openxmlformats.org/package/2006/relationships"><Relationship Id="rId1" Type="http://schemas.openxmlformats.org/officeDocument/2006/relationships/package" Target="../embeddings/Microsoft_Excel_Worksheet14.xlsx" /></Relationships>
</file>

<file path=ppt/charts/_rels/chart14.xml.rels>&#65279;<?xml version="1.0" encoding="utf-8" standalone="yes"?><Relationships xmlns="http://schemas.openxmlformats.org/package/2006/relationships"><Relationship Id="rId1" Type="http://schemas.openxmlformats.org/officeDocument/2006/relationships/package" Target="../embeddings/Microsoft_Excel_Worksheet15.xlsx" /></Relationships>
</file>

<file path=ppt/charts/_rels/chart15.xml.rels>&#65279;<?xml version="1.0" encoding="utf-8" standalone="yes"?><Relationships xmlns="http://schemas.openxmlformats.org/package/2006/relationships"><Relationship Id="rId1" Type="http://schemas.openxmlformats.org/officeDocument/2006/relationships/package" Target="../embeddings/Microsoft_Excel_Worksheet16.xlsx" /></Relationships>
</file>

<file path=ppt/charts/_rels/chart16.xml.rels>&#65279;<?xml version="1.0" encoding="utf-8" standalone="yes"?><Relationships xmlns="http://schemas.openxmlformats.org/package/2006/relationships"><Relationship Id="rId1" Type="http://schemas.openxmlformats.org/officeDocument/2006/relationships/package" Target="../embeddings/Microsoft_Excel_Worksheet17.xlsx" /></Relationships>
</file>

<file path=ppt/charts/_rels/chart17.xml.rels>&#65279;<?xml version="1.0" encoding="utf-8" standalone="yes"?><Relationships xmlns="http://schemas.openxmlformats.org/package/2006/relationships"><Relationship Id="rId1" Type="http://schemas.openxmlformats.org/officeDocument/2006/relationships/package" Target="../embeddings/Microsoft_Excel_Worksheet18.xlsx" /></Relationships>
</file>

<file path=ppt/charts/_rels/chart18.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_rels/chart19.xml.rels>&#65279;<?xml version="1.0" encoding="utf-8" standalone="yes"?><Relationships xmlns="http://schemas.openxmlformats.org/package/2006/relationships"><Relationship Id="rId1" Type="http://schemas.openxmlformats.org/officeDocument/2006/relationships/package" Target="../embeddings/Microsoft_Excel_Worksheet20.xlsx" /></Relationships>
</file>

<file path=ppt/charts/_rels/chart20.xml.rels>&#65279;<?xml version="1.0" encoding="utf-8" standalone="yes"?><Relationships xmlns="http://schemas.openxmlformats.org/package/2006/relationships"><Relationship Id="rId1" Type="http://schemas.openxmlformats.org/officeDocument/2006/relationships/package" Target="../embeddings/Microsoft_Excel_Worksheet21.xlsx" /></Relationships>
</file>

<file path=ppt/charts/_rels/chart21.xml.rels>&#65279;<?xml version="1.0" encoding="utf-8" standalone="yes"?><Relationships xmlns="http://schemas.openxmlformats.org/package/2006/relationships"><Relationship Id="rId1" Type="http://schemas.openxmlformats.org/officeDocument/2006/relationships/package" Target="../embeddings/Microsoft_Excel_Worksheet22.xlsx" /></Relationships>
</file>

<file path=ppt/charts/_rels/chart22.xml.rels>&#65279;<?xml version="1.0" encoding="utf-8" standalone="yes"?><Relationships xmlns="http://schemas.openxmlformats.org/package/2006/relationships"><Relationship Id="rId1" Type="http://schemas.openxmlformats.org/officeDocument/2006/relationships/package" Target="../embeddings/Microsoft_Excel_Worksheet24.xlsx" /></Relationships>
</file>

<file path=ppt/charts/_rels/chart23.xml.rels>&#65279;<?xml version="1.0" encoding="utf-8" standalone="yes"?><Relationships xmlns="http://schemas.openxmlformats.org/package/2006/relationships"><Relationship Id="rId1" Type="http://schemas.openxmlformats.org/officeDocument/2006/relationships/package" Target="../embeddings/Microsoft_Excel_Worksheet26.xlsx" /></Relationships>
</file>

<file path=ppt/charts/_rels/chart24.xml.rels>&#65279;<?xml version="1.0" encoding="utf-8" standalone="yes"?><Relationships xmlns="http://schemas.openxmlformats.org/package/2006/relationships"><Relationship Id="rId1" Type="http://schemas.openxmlformats.org/officeDocument/2006/relationships/package" Target="../embeddings/Microsoft_Excel_Worksheet27.xlsx" /></Relationships>
</file>

<file path=ppt/charts/_rels/chart25.xml.rels>&#65279;<?xml version="1.0" encoding="utf-8" standalone="yes"?><Relationships xmlns="http://schemas.openxmlformats.org/package/2006/relationships"><Relationship Id="rId1" Type="http://schemas.openxmlformats.org/officeDocument/2006/relationships/package" Target="../embeddings/Microsoft_Excel_Worksheet29.xlsx" /></Relationships>
</file>

<file path=ppt/charts/_rels/chart26.xml.rels>&#65279;<?xml version="1.0" encoding="utf-8" standalone="yes"?><Relationships xmlns="http://schemas.openxmlformats.org/package/2006/relationships"><Relationship Id="rId1" Type="http://schemas.openxmlformats.org/officeDocument/2006/relationships/package" Target="../embeddings/Microsoft_Excel_Worksheet30.xlsx" /></Relationships>
</file>

<file path=ppt/charts/_rels/chart27.xml.rels>&#65279;<?xml version="1.0" encoding="utf-8" standalone="yes"?><Relationships xmlns="http://schemas.openxmlformats.org/package/2006/relationships"><Relationship Id="rId1" Type="http://schemas.openxmlformats.org/officeDocument/2006/relationships/package" Target="../embeddings/Microsoft_Excel_Worksheet31.xlsx" /></Relationships>
</file>

<file path=ppt/charts/_rels/chart28.xml.rels>&#65279;<?xml version="1.0" encoding="utf-8" standalone="yes"?><Relationships xmlns="http://schemas.openxmlformats.org/package/2006/relationships"><Relationship Id="rId1" Type="http://schemas.openxmlformats.org/officeDocument/2006/relationships/package" Target="../embeddings/Microsoft_Excel_Worksheet33.xlsx" /></Relationships>
</file>

<file path=ppt/charts/_rels/chart29.xml.rels>&#65279;<?xml version="1.0" encoding="utf-8" standalone="yes"?><Relationships xmlns="http://schemas.openxmlformats.org/package/2006/relationships"><Relationship Id="rId1" Type="http://schemas.openxmlformats.org/officeDocument/2006/relationships/package" Target="../embeddings/Microsoft_Excel_Worksheet35.xlsx" /></Relationships>
</file>

<file path=ppt/charts/_rels/chart30.xml.rels>&#65279;<?xml version="1.0" encoding="utf-8" standalone="yes"?><Relationships xmlns="http://schemas.openxmlformats.org/package/2006/relationships"><Relationship Id="rId1" Type="http://schemas.openxmlformats.org/officeDocument/2006/relationships/package" Target="../embeddings/Microsoft_Excel_Worksheet36.xlsx" /></Relationships>
</file>

<file path=ppt/charts/_rels/chart31.xml.rels>&#65279;<?xml version="1.0" encoding="utf-8" standalone="yes"?><Relationships xmlns="http://schemas.openxmlformats.org/package/2006/relationships"><Relationship Id="rId1" Type="http://schemas.openxmlformats.org/officeDocument/2006/relationships/package" Target="../embeddings/Microsoft_Excel_Worksheet37.xlsx" /></Relationships>
</file>

<file path=ppt/charts/_rels/chart32.xml.rels>&#65279;<?xml version="1.0" encoding="utf-8" standalone="yes"?><Relationships xmlns="http://schemas.openxmlformats.org/package/2006/relationships"><Relationship Id="rId1" Type="http://schemas.openxmlformats.org/officeDocument/2006/relationships/package" Target="../embeddings/Microsoft_Excel_Worksheet38.xlsx" /></Relationships>
</file>

<file path=ppt/charts/_rels/chart33.xml.rels>&#65279;<?xml version="1.0" encoding="utf-8" standalone="yes"?><Relationships xmlns="http://schemas.openxmlformats.org/package/2006/relationships"><Relationship Id="rId1" Type="http://schemas.openxmlformats.org/officeDocument/2006/relationships/package" Target="../embeddings/Microsoft_Excel_Worksheet39.xlsx" /></Relationships>
</file>

<file path=ppt/charts/_rels/chart34.xml.rels>&#65279;<?xml version="1.0" encoding="utf-8" standalone="yes"?><Relationships xmlns="http://schemas.openxmlformats.org/package/2006/relationships"><Relationship Id="rId1" Type="http://schemas.openxmlformats.org/officeDocument/2006/relationships/package" Target="../embeddings/Microsoft_Excel_Worksheet40.xlsx" /></Relationships>
</file>

<file path=ppt/charts/_rels/chart35.xml.rels>&#65279;<?xml version="1.0" encoding="utf-8" standalone="yes"?><Relationships xmlns="http://schemas.openxmlformats.org/package/2006/relationships"><Relationship Id="rId1" Type="http://schemas.openxmlformats.org/officeDocument/2006/relationships/package" Target="../embeddings/Microsoft_Excel_Worksheet41.xlsx" /></Relationships>
</file>

<file path=ppt/charts/_rels/chart36.xml.rels>&#65279;<?xml version="1.0" encoding="utf-8" standalone="yes"?><Relationships xmlns="http://schemas.openxmlformats.org/package/2006/relationships"><Relationship Id="rId1" Type="http://schemas.openxmlformats.org/officeDocument/2006/relationships/package" Target="../embeddings/Microsoft_Excel_Worksheet42.xlsx" /></Relationships>
</file>

<file path=ppt/charts/_rels/chart37.xml.rels>&#65279;<?xml version="1.0" encoding="utf-8" standalone="yes"?><Relationships xmlns="http://schemas.openxmlformats.org/package/2006/relationships"><Relationship Id="rId1" Type="http://schemas.openxmlformats.org/officeDocument/2006/relationships/package" Target="../embeddings/Microsoft_Excel_Worksheet43.xlsx" /></Relationships>
</file>

<file path=ppt/charts/_rels/chart38.xml.rels>&#65279;<?xml version="1.0" encoding="utf-8" standalone="yes"?><Relationships xmlns="http://schemas.openxmlformats.org/package/2006/relationships"><Relationship Id="rId1" Type="http://schemas.openxmlformats.org/officeDocument/2006/relationships/package" Target="../embeddings/Microsoft_Excel_Worksheet44.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2019</c:v>
                </c:pt>
                <c:pt idx="1">
                  <c:v>2023</c:v>
                </c:pt>
                <c:pt idx="2">
                  <c:v>2024¹</c:v>
                </c:pt>
                <c:pt idx="3">
                  <c:v>2034²</c:v>
                </c:pt>
              </c:strCache>
            </c:strRef>
          </c:cat>
          <c:val>
            <c:numRef>
              <c:f>Sheet1!$B$2:$B$5</c:f>
              <c:numCache>
                <c:ptCount val="4"/>
                <c:pt idx="0">
                  <c:v>10.3</c:v>
                </c:pt>
                <c:pt idx="1">
                  <c:v>9.9</c:v>
                </c:pt>
                <c:pt idx="2">
                  <c:v>11.1</c:v>
                </c:pt>
                <c:pt idx="3">
                  <c:v>16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Contribution to GDP in trillion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2019</c:v>
                </c:pt>
                <c:pt idx="1">
                  <c:v>2023</c:v>
                </c:pt>
                <c:pt idx="2">
                  <c:v>2024¹</c:v>
                </c:pt>
                <c:pt idx="3">
                  <c:v>2034²</c:v>
                </c:pt>
              </c:strCache>
            </c:strRef>
          </c:cat>
          <c:val>
            <c:numRef>
              <c:f>Sheet1!$B$2:$B$5</c:f>
              <c:numCache>
                <c:ptCount val="4"/>
                <c:pt idx="0">
                  <c:v>0.104</c:v>
                </c:pt>
                <c:pt idx="1">
                  <c:v>0.091</c:v>
                </c:pt>
                <c:pt idx="2">
                  <c:v>0.1</c:v>
                </c:pt>
                <c:pt idx="3">
                  <c:v>0.114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GDP from travel and tourism</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2023</c:v>
                </c:pt>
              </c:strCache>
            </c:strRef>
          </c:tx>
          <c:spPr>
            <a:solidFill>
              <a:srgbClr val="0F283E"/>
            </a:solidFill>
            <a:ln>
              <a:solidFill>
                <a:srgbClr val="0F283E"/>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United States</c:v>
                </c:pt>
                <c:pt idx="1">
                  <c:v>China</c:v>
                </c:pt>
                <c:pt idx="2">
                  <c:v>Germany</c:v>
                </c:pt>
                <c:pt idx="3">
                  <c:v>Japan</c:v>
                </c:pt>
                <c:pt idx="4">
                  <c:v>United Kingdom</c:v>
                </c:pt>
                <c:pt idx="5">
                  <c:v>France</c:v>
                </c:pt>
                <c:pt idx="6">
                  <c:v>Mexico</c:v>
                </c:pt>
                <c:pt idx="7">
                  <c:v>India</c:v>
                </c:pt>
                <c:pt idx="8">
                  <c:v>Italy</c:v>
                </c:pt>
                <c:pt idx="9">
                  <c:v>Spain</c:v>
                </c:pt>
                <c:pt idx="10">
                  <c:v>Australia</c:v>
                </c:pt>
                <c:pt idx="11">
                  <c:v>Brazil</c:v>
                </c:pt>
                <c:pt idx="12">
                  <c:v>Turkey</c:v>
                </c:pt>
                <c:pt idx="13">
                  <c:v>Canada</c:v>
                </c:pt>
              </c:strCache>
            </c:strRef>
          </c:cat>
          <c:val>
            <c:numRef>
              <c:f>Sheet1!$B$2:$B$15</c:f>
              <c:numCache>
                <c:ptCount val="14"/>
                <c:pt idx="0">
                  <c:v>2360</c:v>
                </c:pt>
                <c:pt idx="1">
                  <c:v>1300</c:v>
                </c:pt>
                <c:pt idx="2">
                  <c:v>487.6</c:v>
                </c:pt>
                <c:pt idx="3">
                  <c:v>297</c:v>
                </c:pt>
                <c:pt idx="4">
                  <c:v>295.2</c:v>
                </c:pt>
                <c:pt idx="5">
                  <c:v>264.7</c:v>
                </c:pt>
                <c:pt idx="6">
                  <c:v>261.6</c:v>
                </c:pt>
                <c:pt idx="7">
                  <c:v>231.6</c:v>
                </c:pt>
                <c:pt idx="8">
                  <c:v>231.3</c:v>
                </c:pt>
                <c:pt idx="9">
                  <c:v>227.9</c:v>
                </c:pt>
                <c:pt idx="10">
                  <c:v>167.4</c:v>
                </c:pt>
                <c:pt idx="11">
                  <c:v>165.4</c:v>
                </c:pt>
                <c:pt idx="12">
                  <c:v>131.4</c:v>
                </c:pt>
                <c:pt idx="13">
                  <c:v>127.4</c:v>
                </c:pt>
              </c:numCache>
            </c:numRef>
          </c:val>
        </c:ser>
        <c:ser>
          <c:idx val="1"/>
          <c:order val="1"/>
          <c:tx>
            <c:strRef>
              <c:f>Sheet1!$C$1</c:f>
              <c:strCache>
                <c:ptCount val="1"/>
                <c:pt idx="0">
                  <c:v>2019</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United States</c:v>
                </c:pt>
                <c:pt idx="1">
                  <c:v>China</c:v>
                </c:pt>
                <c:pt idx="2">
                  <c:v>Germany</c:v>
                </c:pt>
                <c:pt idx="3">
                  <c:v>Japan</c:v>
                </c:pt>
                <c:pt idx="4">
                  <c:v>United Kingdom</c:v>
                </c:pt>
                <c:pt idx="5">
                  <c:v>France</c:v>
                </c:pt>
                <c:pt idx="6">
                  <c:v>Mexico</c:v>
                </c:pt>
                <c:pt idx="7">
                  <c:v>India</c:v>
                </c:pt>
                <c:pt idx="8">
                  <c:v>Italy</c:v>
                </c:pt>
                <c:pt idx="9">
                  <c:v>Spain</c:v>
                </c:pt>
                <c:pt idx="10">
                  <c:v>Australia</c:v>
                </c:pt>
                <c:pt idx="11">
                  <c:v>Brazil</c:v>
                </c:pt>
                <c:pt idx="12">
                  <c:v>Turkey</c:v>
                </c:pt>
                <c:pt idx="13">
                  <c:v>Canada</c:v>
                </c:pt>
              </c:strCache>
            </c:strRef>
          </c:cat>
          <c:val>
            <c:numRef>
              <c:f>Sheet1!$C$2:$C$15</c:f>
              <c:numCache>
                <c:ptCount val="14"/>
                <c:pt idx="0">
                  <c:v>2260</c:v>
                </c:pt>
                <c:pt idx="1">
                  <c:v>1720</c:v>
                </c:pt>
                <c:pt idx="2">
                  <c:v>502.2</c:v>
                </c:pt>
                <c:pt idx="3">
                  <c:v>299.8</c:v>
                </c:pt>
                <c:pt idx="4">
                  <c:v>327.1</c:v>
                </c:pt>
                <c:pt idx="5">
                  <c:v>253.9</c:v>
                </c:pt>
                <c:pt idx="6">
                  <c:v>256.8</c:v>
                </c:pt>
                <c:pt idx="7">
                  <c:v>211.1</c:v>
                </c:pt>
                <c:pt idx="8">
                  <c:v>227.2</c:v>
                </c:pt>
                <c:pt idx="9">
                  <c:v>215.8</c:v>
                </c:pt>
                <c:pt idx="10">
                  <c:v>144.8</c:v>
                </c:pt>
                <c:pt idx="11">
                  <c:v>154.6</c:v>
                </c:pt>
                <c:pt idx="12">
                  <c:v>101.3</c:v>
                </c:pt>
                <c:pt idx="13">
                  <c:v>128.9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2019</c:v>
                </c:pt>
                <c:pt idx="1">
                  <c:v>2020</c:v>
                </c:pt>
                <c:pt idx="2">
                  <c:v>2021</c:v>
                </c:pt>
                <c:pt idx="3">
                  <c:v>2022</c:v>
                </c:pt>
                <c:pt idx="4">
                  <c:v>2023</c:v>
                </c:pt>
              </c:numCache>
            </c:numRef>
          </c:cat>
          <c:val>
            <c:numRef>
              <c:f>Sheet1!$B$2:$B$6</c:f>
              <c:numCache>
                <c:ptCount val="5"/>
                <c:pt idx="0">
                  <c:v>5328.3</c:v>
                </c:pt>
                <c:pt idx="1">
                  <c:v>2616.2</c:v>
                </c:pt>
                <c:pt idx="2">
                  <c:v>3241.5</c:v>
                </c:pt>
                <c:pt idx="3">
                  <c:v>4269</c:v>
                </c:pt>
                <c:pt idx="4">
                  <c:v>5174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Leisure travel spending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GBTA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Sheet1!$B$2:$B$25</c:f>
              <c:numCache>
                <c:ptCount val="24"/>
                <c:pt idx="0">
                  <c:v>564</c:v>
                </c:pt>
                <c:pt idx="1">
                  <c:v>574</c:v>
                </c:pt>
                <c:pt idx="2">
                  <c:v>581</c:v>
                </c:pt>
                <c:pt idx="3">
                  <c:v>648</c:v>
                </c:pt>
                <c:pt idx="4">
                  <c:v>707</c:v>
                </c:pt>
                <c:pt idx="5">
                  <c:v>775</c:v>
                </c:pt>
                <c:pt idx="6">
                  <c:v>898</c:v>
                </c:pt>
                <c:pt idx="7">
                  <c:v>939</c:v>
                </c:pt>
                <c:pt idx="8">
                  <c:v>869</c:v>
                </c:pt>
                <c:pt idx="9">
                  <c:v>939</c:v>
                </c:pt>
                <c:pt idx="10">
                  <c:v>1026</c:v>
                </c:pt>
                <c:pt idx="11">
                  <c:v>1059</c:v>
                </c:pt>
                <c:pt idx="12">
                  <c:v>1105</c:v>
                </c:pt>
                <c:pt idx="13">
                  <c:v>1173</c:v>
                </c:pt>
                <c:pt idx="14">
                  <c:v>1218</c:v>
                </c:pt>
                <c:pt idx="15">
                  <c:v>1261</c:v>
                </c:pt>
                <c:pt idx="16">
                  <c:v>1334</c:v>
                </c:pt>
                <c:pt idx="17">
                  <c:v>1410</c:v>
                </c:pt>
                <c:pt idx="18">
                  <c:v>1430</c:v>
                </c:pt>
                <c:pt idx="19">
                  <c:v>661</c:v>
                </c:pt>
                <c:pt idx="20">
                  <c:v>697</c:v>
                </c:pt>
                <c:pt idx="21">
                  <c:v>1027</c:v>
                </c:pt>
                <c:pt idx="22">
                  <c:v>1336</c:v>
                </c:pt>
                <c:pt idx="23">
                  <c:v>1484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Expenditure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Sheet1!$A$2:$A$60</c:f>
              <c:numCache>
                <c:formatCode>General</c:formatCode>
                <c:ptCount val="59"/>
                <c:pt idx="0">
                  <c:v>1950</c:v>
                </c:pt>
                <c:pt idx="1">
                  <c:v>1955</c:v>
                </c:pt>
                <c:pt idx="2">
                  <c:v>1960</c:v>
                </c:pt>
                <c:pt idx="3">
                  <c:v>1965</c:v>
                </c:pt>
                <c:pt idx="4">
                  <c:v>1970</c:v>
                </c:pt>
                <c:pt idx="5">
                  <c:v>1971</c:v>
                </c:pt>
                <c:pt idx="6">
                  <c:v>1972</c:v>
                </c:pt>
                <c:pt idx="7">
                  <c:v>1973</c:v>
                </c:pt>
                <c:pt idx="8">
                  <c:v>1974</c:v>
                </c:pt>
                <c:pt idx="9">
                  <c:v>1975</c:v>
                </c:pt>
                <c:pt idx="10">
                  <c:v>1976</c:v>
                </c:pt>
                <c:pt idx="11">
                  <c:v>1977</c:v>
                </c:pt>
                <c:pt idx="12">
                  <c:v>1978</c:v>
                </c:pt>
                <c:pt idx="13">
                  <c:v>1979</c:v>
                </c:pt>
                <c:pt idx="14">
                  <c:v>1980</c:v>
                </c:pt>
                <c:pt idx="15">
                  <c:v>1981</c:v>
                </c:pt>
                <c:pt idx="16">
                  <c:v>1982</c:v>
                </c:pt>
                <c:pt idx="17">
                  <c:v>1983</c:v>
                </c:pt>
                <c:pt idx="18">
                  <c:v>1984</c:v>
                </c:pt>
                <c:pt idx="19">
                  <c:v>1985</c:v>
                </c:pt>
                <c:pt idx="20">
                  <c:v>1986</c:v>
                </c:pt>
                <c:pt idx="21">
                  <c:v>1987</c:v>
                </c:pt>
                <c:pt idx="22">
                  <c:v>1988</c:v>
                </c:pt>
                <c:pt idx="23">
                  <c:v>1989</c:v>
                </c:pt>
                <c:pt idx="24">
                  <c:v>1990</c:v>
                </c:pt>
                <c:pt idx="25">
                  <c:v>1991</c:v>
                </c:pt>
                <c:pt idx="26">
                  <c:v>1992</c:v>
                </c:pt>
                <c:pt idx="27">
                  <c:v>1993</c:v>
                </c:pt>
                <c:pt idx="28">
                  <c:v>1994</c:v>
                </c:pt>
                <c:pt idx="29">
                  <c:v>1995</c:v>
                </c:pt>
                <c:pt idx="30">
                  <c:v>1996</c:v>
                </c:pt>
                <c:pt idx="31">
                  <c:v>1997</c:v>
                </c:pt>
                <c:pt idx="32">
                  <c:v>1998</c:v>
                </c:pt>
                <c:pt idx="33">
                  <c:v>1999</c:v>
                </c:pt>
                <c:pt idx="34">
                  <c:v>2000</c:v>
                </c:pt>
                <c:pt idx="35">
                  <c:v>2001</c:v>
                </c:pt>
                <c:pt idx="36">
                  <c:v>2002</c:v>
                </c:pt>
                <c:pt idx="37">
                  <c:v>2003</c:v>
                </c:pt>
                <c:pt idx="38">
                  <c:v>2004</c:v>
                </c:pt>
                <c:pt idx="39">
                  <c:v>2005</c:v>
                </c:pt>
                <c:pt idx="40">
                  <c:v>2006</c:v>
                </c:pt>
                <c:pt idx="41">
                  <c:v>2007</c:v>
                </c:pt>
                <c:pt idx="42">
                  <c:v>2008</c:v>
                </c:pt>
                <c:pt idx="43">
                  <c:v>2009</c:v>
                </c:pt>
                <c:pt idx="44">
                  <c:v>2010</c:v>
                </c:pt>
                <c:pt idx="45">
                  <c:v>2011</c:v>
                </c:pt>
                <c:pt idx="46">
                  <c:v>2012</c:v>
                </c:pt>
                <c:pt idx="47">
                  <c:v>2013</c:v>
                </c:pt>
                <c:pt idx="48">
                  <c:v>2014</c:v>
                </c:pt>
                <c:pt idx="49">
                  <c:v>2015</c:v>
                </c:pt>
                <c:pt idx="50">
                  <c:v>2016</c:v>
                </c:pt>
                <c:pt idx="51">
                  <c:v>2017</c:v>
                </c:pt>
                <c:pt idx="52">
                  <c:v>2018</c:v>
                </c:pt>
                <c:pt idx="53">
                  <c:v>2019</c:v>
                </c:pt>
                <c:pt idx="54">
                  <c:v>2020</c:v>
                </c:pt>
                <c:pt idx="55">
                  <c:v>2021</c:v>
                </c:pt>
                <c:pt idx="56">
                  <c:v>2022</c:v>
                </c:pt>
                <c:pt idx="57">
                  <c:v>2023</c:v>
                </c:pt>
                <c:pt idx="58">
                  <c:v>2024</c:v>
                </c:pt>
              </c:numCache>
            </c:numRef>
          </c:cat>
          <c:val>
            <c:numRef>
              <c:f>Sheet1!$B$2:$B$60</c:f>
              <c:numCache>
                <c:ptCount val="59"/>
                <c:pt idx="0">
                  <c:v>25</c:v>
                </c:pt>
                <c:pt idx="1">
                  <c:v>47</c:v>
                </c:pt>
                <c:pt idx="2">
                  <c:v>69</c:v>
                </c:pt>
                <c:pt idx="3">
                  <c:v>113</c:v>
                </c:pt>
                <c:pt idx="4">
                  <c:v>166</c:v>
                </c:pt>
                <c:pt idx="5">
                  <c:v>179</c:v>
                </c:pt>
                <c:pt idx="6">
                  <c:v>189</c:v>
                </c:pt>
                <c:pt idx="7">
                  <c:v>199</c:v>
                </c:pt>
                <c:pt idx="8">
                  <c:v>206</c:v>
                </c:pt>
                <c:pt idx="9">
                  <c:v>223</c:v>
                </c:pt>
                <c:pt idx="10">
                  <c:v>229</c:v>
                </c:pt>
                <c:pt idx="11">
                  <c:v>250</c:v>
                </c:pt>
                <c:pt idx="12">
                  <c:v>267</c:v>
                </c:pt>
                <c:pt idx="13">
                  <c:v>283</c:v>
                </c:pt>
                <c:pt idx="14">
                  <c:v>286</c:v>
                </c:pt>
                <c:pt idx="15">
                  <c:v>288</c:v>
                </c:pt>
                <c:pt idx="16">
                  <c:v>286</c:v>
                </c:pt>
                <c:pt idx="17">
                  <c:v>290</c:v>
                </c:pt>
                <c:pt idx="18">
                  <c:v>317</c:v>
                </c:pt>
                <c:pt idx="19">
                  <c:v>328</c:v>
                </c:pt>
                <c:pt idx="20">
                  <c:v>339</c:v>
                </c:pt>
                <c:pt idx="21">
                  <c:v>364</c:v>
                </c:pt>
                <c:pt idx="22">
                  <c:v>395</c:v>
                </c:pt>
                <c:pt idx="23">
                  <c:v>427</c:v>
                </c:pt>
                <c:pt idx="24">
                  <c:v>435</c:v>
                </c:pt>
                <c:pt idx="25">
                  <c:v>465</c:v>
                </c:pt>
                <c:pt idx="26">
                  <c:v>503</c:v>
                </c:pt>
                <c:pt idx="27">
                  <c:v>519</c:v>
                </c:pt>
                <c:pt idx="28">
                  <c:v>554</c:v>
                </c:pt>
                <c:pt idx="29">
                  <c:v>531</c:v>
                </c:pt>
                <c:pt idx="30">
                  <c:v>563</c:v>
                </c:pt>
                <c:pt idx="31">
                  <c:v>589</c:v>
                </c:pt>
                <c:pt idx="32">
                  <c:v>605</c:v>
                </c:pt>
                <c:pt idx="33">
                  <c:v>627</c:v>
                </c:pt>
                <c:pt idx="34">
                  <c:v>680</c:v>
                </c:pt>
                <c:pt idx="35">
                  <c:v>678</c:v>
                </c:pt>
                <c:pt idx="36">
                  <c:v>698</c:v>
                </c:pt>
                <c:pt idx="37">
                  <c:v>689</c:v>
                </c:pt>
                <c:pt idx="38">
                  <c:v>760</c:v>
                </c:pt>
                <c:pt idx="39">
                  <c:v>809</c:v>
                </c:pt>
                <c:pt idx="40">
                  <c:v>855.2</c:v>
                </c:pt>
                <c:pt idx="41">
                  <c:v>913.7</c:v>
                </c:pt>
                <c:pt idx="42">
                  <c:v>933.7</c:v>
                </c:pt>
                <c:pt idx="43">
                  <c:v>901.29</c:v>
                </c:pt>
                <c:pt idx="44">
                  <c:v>972.81</c:v>
                </c:pt>
                <c:pt idx="45">
                  <c:v>1015.08</c:v>
                </c:pt>
                <c:pt idx="46">
                  <c:v>1060.21</c:v>
                </c:pt>
                <c:pt idx="47">
                  <c:v>1108.58</c:v>
                </c:pt>
                <c:pt idx="48">
                  <c:v>1151.37</c:v>
                </c:pt>
                <c:pt idx="49">
                  <c:v>1204.14</c:v>
                </c:pt>
                <c:pt idx="50">
                  <c:v>1246.11</c:v>
                </c:pt>
                <c:pt idx="51">
                  <c:v>1338.71</c:v>
                </c:pt>
                <c:pt idx="52">
                  <c:v>1415.19</c:v>
                </c:pt>
                <c:pt idx="53">
                  <c:v>1464.78</c:v>
                </c:pt>
                <c:pt idx="54">
                  <c:v>406.32</c:v>
                </c:pt>
                <c:pt idx="55">
                  <c:v>460.19</c:v>
                </c:pt>
                <c:pt idx="56">
                  <c:v>975.14</c:v>
                </c:pt>
                <c:pt idx="57">
                  <c:v>1305.26</c:v>
                </c:pt>
                <c:pt idx="58">
                  <c:v>1445.07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International tourist arrivals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Europe</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Sheet1!$B$2:$B$21</c:f>
              <c:numCache>
                <c:ptCount val="20"/>
                <c:pt idx="0">
                  <c:v>452.7</c:v>
                </c:pt>
                <c:pt idx="1">
                  <c:v>475.5</c:v>
                </c:pt>
                <c:pt idx="2">
                  <c:v>499.9</c:v>
                </c:pt>
                <c:pt idx="3">
                  <c:v>503.3</c:v>
                </c:pt>
                <c:pt idx="4">
                  <c:v>476.9</c:v>
                </c:pt>
                <c:pt idx="5">
                  <c:v>494.18</c:v>
                </c:pt>
                <c:pt idx="6">
                  <c:v>526.29</c:v>
                </c:pt>
                <c:pt idx="7">
                  <c:v>546.95</c:v>
                </c:pt>
                <c:pt idx="8">
                  <c:v>571.06</c:v>
                </c:pt>
                <c:pt idx="9">
                  <c:v>582.23</c:v>
                </c:pt>
                <c:pt idx="10">
                  <c:v>612.43</c:v>
                </c:pt>
                <c:pt idx="11">
                  <c:v>622.27</c:v>
                </c:pt>
                <c:pt idx="12">
                  <c:v>677.56</c:v>
                </c:pt>
                <c:pt idx="13">
                  <c:v>717.69</c:v>
                </c:pt>
                <c:pt idx="14">
                  <c:v>742.4</c:v>
                </c:pt>
                <c:pt idx="15">
                  <c:v>239.39</c:v>
                </c:pt>
                <c:pt idx="16">
                  <c:v>301.34</c:v>
                </c:pt>
                <c:pt idx="17">
                  <c:v>609.47</c:v>
                </c:pt>
                <c:pt idx="18">
                  <c:v>708.38</c:v>
                </c:pt>
                <c:pt idx="19">
                  <c:v>747.3</c:v>
                </c:pt>
              </c:numCache>
            </c:numRef>
          </c:val>
        </c:ser>
        <c:ser>
          <c:idx val="1"/>
          <c:order val="1"/>
          <c:tx>
            <c:strRef>
              <c:f>Sheet1!$C$1</c:f>
              <c:strCache>
                <c:ptCount val="1"/>
                <c:pt idx="0">
                  <c:v>Asia and the Pacific</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Sheet1!$C$2:$C$21</c:f>
              <c:numCache>
                <c:ptCount val="20"/>
                <c:pt idx="0">
                  <c:v>154.1</c:v>
                </c:pt>
                <c:pt idx="1">
                  <c:v>166.7</c:v>
                </c:pt>
                <c:pt idx="2">
                  <c:v>183.5</c:v>
                </c:pt>
                <c:pt idx="3">
                  <c:v>186.1</c:v>
                </c:pt>
                <c:pt idx="4">
                  <c:v>183.56</c:v>
                </c:pt>
                <c:pt idx="5">
                  <c:v>207.93</c:v>
                </c:pt>
                <c:pt idx="6">
                  <c:v>221.58</c:v>
                </c:pt>
                <c:pt idx="7">
                  <c:v>237.79</c:v>
                </c:pt>
                <c:pt idx="8">
                  <c:v>254.09</c:v>
                </c:pt>
                <c:pt idx="9">
                  <c:v>269.57</c:v>
                </c:pt>
                <c:pt idx="10">
                  <c:v>284.81</c:v>
                </c:pt>
                <c:pt idx="11">
                  <c:v>307.01</c:v>
                </c:pt>
                <c:pt idx="12">
                  <c:v>325.9</c:v>
                </c:pt>
                <c:pt idx="13">
                  <c:v>348.68</c:v>
                </c:pt>
                <c:pt idx="14">
                  <c:v>362.67</c:v>
                </c:pt>
                <c:pt idx="15">
                  <c:v>58.95</c:v>
                </c:pt>
                <c:pt idx="16">
                  <c:v>26.73</c:v>
                </c:pt>
                <c:pt idx="17">
                  <c:v>93.33</c:v>
                </c:pt>
                <c:pt idx="18">
                  <c:v>237.74</c:v>
                </c:pt>
                <c:pt idx="19">
                  <c:v>315.86</c:v>
                </c:pt>
              </c:numCache>
            </c:numRef>
          </c:val>
        </c:ser>
        <c:ser>
          <c:idx val="2"/>
          <c:order val="2"/>
          <c:tx>
            <c:strRef>
              <c:f>Sheet1!$D$1</c:f>
              <c:strCache>
                <c:ptCount val="1"/>
                <c:pt idx="0">
                  <c:v>Americas</c:v>
                </c:pt>
              </c:strCache>
            </c:strRef>
          </c:tx>
          <c:spPr>
            <a:solidFill>
              <a:srgbClr val="BABABA"/>
            </a:solidFill>
            <a:ln>
              <a:solidFill>
                <a:srgbClr val="BABABA"/>
              </a:solidFill>
            </a:ln>
          </c:spPr>
          <c:invertIfNegative val="0"/>
          <c:dLbls>
            <c:dLbl>
              <c:idx val="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Sheet1!$D$2:$D$21</c:f>
              <c:numCache>
                <c:ptCount val="20"/>
                <c:pt idx="0">
                  <c:v>133.3</c:v>
                </c:pt>
                <c:pt idx="1">
                  <c:v>136.8</c:v>
                </c:pt>
                <c:pt idx="2">
                  <c:v>144.3</c:v>
                </c:pt>
                <c:pt idx="3">
                  <c:v>148.3</c:v>
                </c:pt>
                <c:pt idx="4">
                  <c:v>140.99</c:v>
                </c:pt>
                <c:pt idx="5">
                  <c:v>151.82</c:v>
                </c:pt>
                <c:pt idx="6">
                  <c:v>157.29</c:v>
                </c:pt>
                <c:pt idx="7">
                  <c:v>163.7</c:v>
                </c:pt>
                <c:pt idx="8">
                  <c:v>170.34</c:v>
                </c:pt>
                <c:pt idx="9">
                  <c:v>183.31</c:v>
                </c:pt>
                <c:pt idx="10">
                  <c:v>194.12</c:v>
                </c:pt>
                <c:pt idx="11">
                  <c:v>201.43</c:v>
                </c:pt>
                <c:pt idx="12">
                  <c:v>210.92</c:v>
                </c:pt>
                <c:pt idx="13">
                  <c:v>215.88</c:v>
                </c:pt>
                <c:pt idx="14">
                  <c:v>219.26</c:v>
                </c:pt>
                <c:pt idx="15">
                  <c:v>69.73</c:v>
                </c:pt>
                <c:pt idx="16">
                  <c:v>81.75</c:v>
                </c:pt>
                <c:pt idx="17">
                  <c:v>157.15</c:v>
                </c:pt>
                <c:pt idx="18">
                  <c:v>200.06</c:v>
                </c:pt>
                <c:pt idx="19">
                  <c:v>213.47</c:v>
                </c:pt>
              </c:numCache>
            </c:numRef>
          </c:val>
        </c:ser>
        <c:ser>
          <c:idx val="3"/>
          <c:order val="3"/>
          <c:tx>
            <c:strRef>
              <c:f>Sheet1!$E$1</c:f>
              <c:strCache>
                <c:ptCount val="1"/>
                <c:pt idx="0">
                  <c:v>Middle East</c:v>
                </c:pt>
              </c:strCache>
            </c:strRef>
          </c:tx>
          <c:spPr>
            <a:solidFill>
              <a:srgbClr val="A60B0B"/>
            </a:solidFill>
            <a:ln>
              <a:solidFill>
                <a:srgbClr val="A60B0B"/>
              </a:solidFill>
            </a:ln>
          </c:spPr>
          <c:invertIfNegative val="0"/>
          <c:dLbls>
            <c:dLbl>
              <c:idx val="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Sheet1!$E$2:$E$21</c:f>
              <c:numCache>
                <c:ptCount val="20"/>
                <c:pt idx="0">
                  <c:v>33.7</c:v>
                </c:pt>
                <c:pt idx="1">
                  <c:v>37.3</c:v>
                </c:pt>
                <c:pt idx="2">
                  <c:v>43.1</c:v>
                </c:pt>
                <c:pt idx="3">
                  <c:v>51.7</c:v>
                </c:pt>
                <c:pt idx="4">
                  <c:v>53.59</c:v>
                </c:pt>
                <c:pt idx="5">
                  <c:v>68.36</c:v>
                </c:pt>
                <c:pt idx="6">
                  <c:v>59.1</c:v>
                </c:pt>
                <c:pt idx="7">
                  <c:v>59.25</c:v>
                </c:pt>
                <c:pt idx="8">
                  <c:v>58.23</c:v>
                </c:pt>
                <c:pt idx="9">
                  <c:v>61.1</c:v>
                </c:pt>
                <c:pt idx="10">
                  <c:v>58.91</c:v>
                </c:pt>
                <c:pt idx="11">
                  <c:v>57.26</c:v>
                </c:pt>
                <c:pt idx="12">
                  <c:v>61.34</c:v>
                </c:pt>
                <c:pt idx="13">
                  <c:v>65.43</c:v>
                </c:pt>
                <c:pt idx="14">
                  <c:v>71.62</c:v>
                </c:pt>
                <c:pt idx="15">
                  <c:v>19.43</c:v>
                </c:pt>
                <c:pt idx="16">
                  <c:v>30.49</c:v>
                </c:pt>
                <c:pt idx="17">
                  <c:v>67.98</c:v>
                </c:pt>
                <c:pt idx="18">
                  <c:v>93.49</c:v>
                </c:pt>
                <c:pt idx="19">
                  <c:v>94.84</c:v>
                </c:pt>
              </c:numCache>
            </c:numRef>
          </c:val>
        </c:ser>
        <c:ser>
          <c:idx val="4"/>
          <c:order val="4"/>
          <c:tx>
            <c:strRef>
              <c:f>Sheet1!$F$1</c:f>
              <c:strCache>
                <c:ptCount val="1"/>
                <c:pt idx="0">
                  <c:v>Africa</c:v>
                </c:pt>
              </c:strCache>
            </c:strRef>
          </c:tx>
          <c:spPr>
            <a:solidFill>
              <a:srgbClr val="87BC24"/>
            </a:solidFill>
            <a:ln>
              <a:solidFill>
                <a:srgbClr val="87BC24"/>
              </a:solidFill>
            </a:ln>
          </c:spPr>
          <c:invertIfNegative val="0"/>
          <c:dLbls>
            <c:dLbl>
              <c:idx val="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Sheet1!$F$2:$F$21</c:f>
              <c:numCache>
                <c:ptCount val="20"/>
                <c:pt idx="0">
                  <c:v>34.8</c:v>
                </c:pt>
                <c:pt idx="1">
                  <c:v>39</c:v>
                </c:pt>
                <c:pt idx="2">
                  <c:v>42.9</c:v>
                </c:pt>
                <c:pt idx="3">
                  <c:v>44.3</c:v>
                </c:pt>
                <c:pt idx="4">
                  <c:v>46.24</c:v>
                </c:pt>
                <c:pt idx="5">
                  <c:v>50.53</c:v>
                </c:pt>
                <c:pt idx="6">
                  <c:v>50.81</c:v>
                </c:pt>
                <c:pt idx="7">
                  <c:v>52.53</c:v>
                </c:pt>
                <c:pt idx="8">
                  <c:v>54.85</c:v>
                </c:pt>
                <c:pt idx="9">
                  <c:v>55.15</c:v>
                </c:pt>
                <c:pt idx="10">
                  <c:v>53.87</c:v>
                </c:pt>
                <c:pt idx="11">
                  <c:v>58.14</c:v>
                </c:pt>
                <c:pt idx="12">
                  <c:v>62.99</c:v>
                </c:pt>
                <c:pt idx="13">
                  <c:v>67.52</c:v>
                </c:pt>
                <c:pt idx="14">
                  <c:v>68.84</c:v>
                </c:pt>
                <c:pt idx="15">
                  <c:v>18.83</c:v>
                </c:pt>
                <c:pt idx="16">
                  <c:v>19.88</c:v>
                </c:pt>
                <c:pt idx="17">
                  <c:v>47.21</c:v>
                </c:pt>
                <c:pt idx="18">
                  <c:v>65.59</c:v>
                </c:pt>
                <c:pt idx="19">
                  <c:v>73.6</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International arrivals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2019</c:v>
                </c:pt>
                <c:pt idx="1">
                  <c:v>2020</c:v>
                </c:pt>
                <c:pt idx="2">
                  <c:v>2021</c:v>
                </c:pt>
                <c:pt idx="3">
                  <c:v>2022</c:v>
                </c:pt>
                <c:pt idx="4">
                  <c:v>2023</c:v>
                </c:pt>
                <c:pt idx="5">
                  <c:v>2024¹</c:v>
                </c:pt>
                <c:pt idx="6">
                  <c:v>2034²</c:v>
                </c:pt>
              </c:strCache>
            </c:strRef>
          </c:cat>
          <c:val>
            <c:numRef>
              <c:f>Sheet1!$B$2:$B$8</c:f>
              <c:numCache>
                <c:ptCount val="7"/>
                <c:pt idx="0">
                  <c:v>334</c:v>
                </c:pt>
                <c:pt idx="1">
                  <c:v>271</c:v>
                </c:pt>
                <c:pt idx="2">
                  <c:v>289</c:v>
                </c:pt>
                <c:pt idx="3">
                  <c:v>295</c:v>
                </c:pt>
                <c:pt idx="4">
                  <c:v>330</c:v>
                </c:pt>
                <c:pt idx="5">
                  <c:v>348</c:v>
                </c:pt>
                <c:pt idx="6">
                  <c:v>449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jobs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Sheet1!$A$2:$A$3</c:f>
              <c:numCache>
                <c:formatCode>General</c:formatCode>
                <c:ptCount val="2"/>
                <c:pt idx="0">
                  <c:v>2022</c:v>
                </c:pt>
                <c:pt idx="1">
                  <c:v>2023</c:v>
                </c:pt>
              </c:numCache>
            </c:numRef>
          </c:cat>
          <c:val>
            <c:numRef>
              <c:f>Sheet1!$B$2:$B$3</c:f>
              <c:numCache>
                <c:ptCount val="2"/>
                <c:pt idx="0">
                  <c:v>1.43</c:v>
                </c:pt>
                <c:pt idx="1">
                  <c:v>1.5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Market size in trillion U.S. dollars</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2023</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Hilton</c:v>
                </c:pt>
                <c:pt idx="1">
                  <c:v>Hyatt</c:v>
                </c:pt>
                <c:pt idx="2">
                  <c:v>Hampton Inn</c:v>
                </c:pt>
                <c:pt idx="3">
                  <c:v>Holiday Inn</c:v>
                </c:pt>
                <c:pt idx="4">
                  <c:v>Marriott</c:v>
                </c:pt>
                <c:pt idx="5">
                  <c:v>Shangri-La</c:v>
                </c:pt>
                <c:pt idx="6">
                  <c:v>Double Tree</c:v>
                </c:pt>
                <c:pt idx="7">
                  <c:v>Sheraton</c:v>
                </c:pt>
                <c:pt idx="8">
                  <c:v>Embassy Suites</c:v>
                </c:pt>
              </c:strCache>
            </c:strRef>
          </c:cat>
          <c:val>
            <c:numRef>
              <c:f>Sheet1!$B$2:$B$10</c:f>
              <c:numCache>
                <c:ptCount val="9"/>
                <c:pt idx="0">
                  <c:v>11.75</c:v>
                </c:pt>
                <c:pt idx="1">
                  <c:v>6.07</c:v>
                </c:pt>
                <c:pt idx="2">
                  <c:v>4.26</c:v>
                </c:pt>
                <c:pt idx="3">
                  <c:v>3.75</c:v>
                </c:pt>
                <c:pt idx="4">
                  <c:v>3.07</c:v>
                </c:pt>
                <c:pt idx="5">
                  <c:v>2.12</c:v>
                </c:pt>
                <c:pt idx="6">
                  <c:v>2.02</c:v>
                </c:pt>
                <c:pt idx="7">
                  <c:v>1.61</c:v>
                </c:pt>
                <c:pt idx="8">
                  <c:v>1.37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2023</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Wyndham Hotels &amp; Resorts</c:v>
                </c:pt>
                <c:pt idx="1">
                  <c:v>Marriott International</c:v>
                </c:pt>
                <c:pt idx="2">
                  <c:v>Choice Hotels International</c:v>
                </c:pt>
                <c:pt idx="3">
                  <c:v>Hilton</c:v>
                </c:pt>
                <c:pt idx="4">
                  <c:v>IHG Hotels &amp; Resorts</c:v>
                </c:pt>
                <c:pt idx="5">
                  <c:v>BWH Hotel Group</c:v>
                </c:pt>
                <c:pt idx="6">
                  <c:v>Aimbridge Hospitality</c:v>
                </c:pt>
                <c:pt idx="7">
                  <c:v>G6 Hospitality</c:v>
                </c:pt>
                <c:pt idx="8">
                  <c:v>Hyatt Hotels Corporation</c:v>
                </c:pt>
                <c:pt idx="9">
                  <c:v>Sonesta International Hotels Corporation</c:v>
                </c:pt>
                <c:pt idx="10">
                  <c:v>Westmont Hospitality Group</c:v>
                </c:pt>
                <c:pt idx="11">
                  <c:v>Extended Stay America</c:v>
                </c:pt>
                <c:pt idx="12">
                  <c:v>Red Roof</c:v>
                </c:pt>
                <c:pt idx="13">
                  <c:v>Highgate</c:v>
                </c:pt>
                <c:pt idx="14">
                  <c:v>Hotel Equities</c:v>
                </c:pt>
              </c:strCache>
            </c:strRef>
          </c:cat>
          <c:val>
            <c:numRef>
              <c:f>Sheet1!$B$2:$B$16</c:f>
              <c:numCache>
                <c:ptCount val="15"/>
                <c:pt idx="0">
                  <c:v>9059</c:v>
                </c:pt>
                <c:pt idx="1">
                  <c:v>8353</c:v>
                </c:pt>
                <c:pt idx="2">
                  <c:v>7467</c:v>
                </c:pt>
                <c:pt idx="3">
                  <c:v>7277</c:v>
                </c:pt>
                <c:pt idx="4">
                  <c:v>6179</c:v>
                </c:pt>
                <c:pt idx="5">
                  <c:v>3914</c:v>
                </c:pt>
                <c:pt idx="6">
                  <c:v>1447</c:v>
                </c:pt>
                <c:pt idx="7">
                  <c:v>1453</c:v>
                </c:pt>
                <c:pt idx="8">
                  <c:v>1297</c:v>
                </c:pt>
                <c:pt idx="9">
                  <c:v>1083</c:v>
                </c:pt>
                <c:pt idx="10">
                  <c:v>844</c:v>
                </c:pt>
                <c:pt idx="11">
                  <c:v>747</c:v>
                </c:pt>
                <c:pt idx="12">
                  <c:v>684</c:v>
                </c:pt>
                <c:pt idx="13">
                  <c:v>517</c:v>
                </c:pt>
                <c:pt idx="14">
                  <c:v>245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Currently under construction</c:v>
                </c:pt>
                <c:pt idx="1">
                  <c:v>In the early planning stage</c:v>
                </c:pt>
                <c:pt idx="2">
                  <c:v>Starting construction in the next 12 months</c:v>
                </c:pt>
              </c:strCache>
            </c:strRef>
          </c:cat>
          <c:val>
            <c:numRef>
              <c:f>Sheet1!$B$2:$B$4</c:f>
              <c:numCache>
                <c:ptCount val="3"/>
                <c:pt idx="0">
                  <c:v>6195</c:v>
                </c:pt>
                <c:pt idx="1">
                  <c:v>5331</c:v>
                </c:pt>
                <c:pt idx="2">
                  <c:v>3840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hotels in the construction pipeline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Currently under construction</c:v>
                </c:pt>
                <c:pt idx="1">
                  <c:v>In the early planning stage</c:v>
                </c:pt>
                <c:pt idx="2">
                  <c:v>Starting construction in the next 12 months</c:v>
                </c:pt>
              </c:strCache>
            </c:strRef>
          </c:cat>
          <c:val>
            <c:numRef>
              <c:f>Sheet1!$B$2:$B$4</c:f>
              <c:numCache>
                <c:ptCount val="3"/>
                <c:pt idx="0">
                  <c:v>1101602</c:v>
                </c:pt>
                <c:pt idx="1">
                  <c:v>752342</c:v>
                </c:pt>
                <c:pt idx="2">
                  <c:v>528251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hotel rooms in the construction pipeline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Q1 2024</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United States</c:v>
                </c:pt>
                <c:pt idx="1">
                  <c:v>China</c:v>
                </c:pt>
                <c:pt idx="2">
                  <c:v>India</c:v>
                </c:pt>
                <c:pt idx="3">
                  <c:v>Saudi Arabia</c:v>
                </c:pt>
                <c:pt idx="4">
                  <c:v>Vietnam</c:v>
                </c:pt>
              </c:strCache>
            </c:strRef>
          </c:cat>
          <c:val>
            <c:numRef>
              <c:f>Sheet1!$B$2:$B$6</c:f>
              <c:numCache>
                <c:ptCount val="5"/>
                <c:pt idx="0">
                  <c:v>2272</c:v>
                </c:pt>
                <c:pt idx="1">
                  <c:v>1688</c:v>
                </c:pt>
                <c:pt idx="2">
                  <c:v>334</c:v>
                </c:pt>
                <c:pt idx="3">
                  <c:v>270</c:v>
                </c:pt>
                <c:pt idx="4">
                  <c:v>186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projects in the pipeline </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Atlanta (ATL, United States)</c:v>
                </c:pt>
                <c:pt idx="1">
                  <c:v>Dubai (DXB, United Arab Emirates)</c:v>
                </c:pt>
                <c:pt idx="2">
                  <c:v>Dallas/Fort Worth (DFW, United States)</c:v>
                </c:pt>
                <c:pt idx="3">
                  <c:v>London (LHR, United Kingdom)</c:v>
                </c:pt>
                <c:pt idx="4">
                  <c:v>Tokyo (HND, Japan)</c:v>
                </c:pt>
                <c:pt idx="5">
                  <c:v>Denver (DEN, United States)</c:v>
                </c:pt>
                <c:pt idx="6">
                  <c:v>Istanbul (IST, Turkey)</c:v>
                </c:pt>
                <c:pt idx="7">
                  <c:v>Los Angeles (LAX, United States)</c:v>
                </c:pt>
                <c:pt idx="8">
                  <c:v>Chicago (ORD, United States)</c:v>
                </c:pt>
                <c:pt idx="9">
                  <c:v>New Delhi (DEL, India)</c:v>
                </c:pt>
              </c:strCache>
            </c:strRef>
          </c:cat>
          <c:val>
            <c:numRef>
              <c:f>Sheet1!$B$2:$B$11</c:f>
              <c:numCache>
                <c:ptCount val="10"/>
                <c:pt idx="0">
                  <c:v>104.65</c:v>
                </c:pt>
                <c:pt idx="1">
                  <c:v>86.99</c:v>
                </c:pt>
                <c:pt idx="2">
                  <c:v>81.76</c:v>
                </c:pt>
                <c:pt idx="3">
                  <c:v>79.18</c:v>
                </c:pt>
                <c:pt idx="4">
                  <c:v>78.72</c:v>
                </c:pt>
                <c:pt idx="5">
                  <c:v>77.84</c:v>
                </c:pt>
                <c:pt idx="6">
                  <c:v>76.03</c:v>
                </c:pt>
                <c:pt idx="7">
                  <c:v>75.05</c:v>
                </c:pt>
                <c:pt idx="8">
                  <c:v>73.89</c:v>
                </c:pt>
                <c:pt idx="9">
                  <c:v>72.21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stack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Sheet1!$A$2:$A$12</c:f>
              <c:strCache>
                <c:ptCount val="11"/>
                <c:pt idx="0">
                  <c:v>Delta</c:v>
                </c:pt>
                <c:pt idx="1">
                  <c:v>Ryanair Holdings</c:v>
                </c:pt>
                <c:pt idx="2">
                  <c:v>United Airlines Holdings</c:v>
                </c:pt>
                <c:pt idx="3">
                  <c:v>Southwest</c:v>
                </c:pt>
                <c:pt idx="4">
                  <c:v>Singapore Airlines</c:v>
                </c:pt>
                <c:pt idx="5">
                  <c:v>Turkish Airlines</c:v>
                </c:pt>
                <c:pt idx="6">
                  <c:v>International Airlines</c:v>
                </c:pt>
                <c:pt idx="7">
                  <c:v>American Airlines Group</c:v>
                </c:pt>
                <c:pt idx="8">
                  <c:v>All Nipon Airways</c:v>
                </c:pt>
                <c:pt idx="9">
                  <c:v>Latam Airlines</c:v>
                </c:pt>
                <c:pt idx="10">
                  <c:v>Deutsche Lufthansa</c:v>
                </c:pt>
              </c:strCache>
            </c:strRef>
          </c:cat>
          <c:val>
            <c:numRef>
              <c:f>Sheet1!$B$2:$B$12</c:f>
              <c:numCache>
                <c:ptCount val="11"/>
                <c:pt idx="0">
                  <c:v>34</c:v>
                </c:pt>
                <c:pt idx="1">
                  <c:v>22.73</c:v>
                </c:pt>
                <c:pt idx="2">
                  <c:v>18.07</c:v>
                </c:pt>
                <c:pt idx="3">
                  <c:v>16.67</c:v>
                </c:pt>
                <c:pt idx="4">
                  <c:v>14.99</c:v>
                </c:pt>
                <c:pt idx="5">
                  <c:v>13.81</c:v>
                </c:pt>
                <c:pt idx="6">
                  <c:v>11.09</c:v>
                </c:pt>
                <c:pt idx="7">
                  <c:v>9.66</c:v>
                </c:pt>
                <c:pt idx="8">
                  <c:v>9.09</c:v>
                </c:pt>
                <c:pt idx="9">
                  <c:v>8.96</c:v>
                </c:pt>
                <c:pt idx="10">
                  <c:v>8.68</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Sheet1!$A$2:$A$13</c:f>
              <c:numCache>
                <c:formatCode>General</c:formatCode>
                <c:ptCount val="12"/>
                <c:pt idx="0">
                  <c:v>2017</c:v>
                </c:pt>
                <c:pt idx="1">
                  <c:v>2018</c:v>
                </c:pt>
                <c:pt idx="2">
                  <c:v>2019</c:v>
                </c:pt>
                <c:pt idx="3">
                  <c:v>2020</c:v>
                </c:pt>
                <c:pt idx="4">
                  <c:v>2021</c:v>
                </c:pt>
                <c:pt idx="5">
                  <c:v>2022</c:v>
                </c:pt>
                <c:pt idx="6">
                  <c:v>2023</c:v>
                </c:pt>
                <c:pt idx="7">
                  <c:v>2024</c:v>
                </c:pt>
                <c:pt idx="8">
                  <c:v>2025</c:v>
                </c:pt>
                <c:pt idx="9">
                  <c:v>2026</c:v>
                </c:pt>
                <c:pt idx="10">
                  <c:v>2027</c:v>
                </c:pt>
                <c:pt idx="11">
                  <c:v>2028</c:v>
                </c:pt>
              </c:numCache>
            </c:numRef>
          </c:cat>
          <c:val>
            <c:numRef>
              <c:f>Sheet1!$B$2:$B$13</c:f>
              <c:numCache>
                <c:ptCount val="12"/>
                <c:pt idx="0">
                  <c:v>0.79</c:v>
                </c:pt>
                <c:pt idx="1">
                  <c:v>0.82</c:v>
                </c:pt>
                <c:pt idx="2">
                  <c:v>0.85</c:v>
                </c:pt>
                <c:pt idx="3">
                  <c:v>0.88</c:v>
                </c:pt>
                <c:pt idx="4">
                  <c:v>0.92</c:v>
                </c:pt>
                <c:pt idx="5">
                  <c:v>0.92</c:v>
                </c:pt>
                <c:pt idx="6">
                  <c:v>0.97</c:v>
                </c:pt>
                <c:pt idx="7">
                  <c:v>0.99</c:v>
                </c:pt>
                <c:pt idx="8">
                  <c:v>1.02</c:v>
                </c:pt>
                <c:pt idx="9">
                  <c:v>1.04</c:v>
                </c:pt>
                <c:pt idx="10">
                  <c:v>1.06</c:v>
                </c:pt>
                <c:pt idx="11">
                  <c:v>1.08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Users in billions</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Latin America</c:v>
                </c:pt>
                <c:pt idx="1">
                  <c:v>Asia</c:v>
                </c:pt>
                <c:pt idx="2">
                  <c:v>Europe</c:v>
                </c:pt>
                <c:pt idx="3">
                  <c:v>North America</c:v>
                </c:pt>
                <c:pt idx="4">
                  <c:v>Africa</c:v>
                </c:pt>
                <c:pt idx="5">
                  <c:v>Oceania</c:v>
                </c:pt>
              </c:strCache>
            </c:strRef>
          </c:cat>
          <c:val>
            <c:numRef>
              <c:f>Sheet1!$B$2:$B$7</c:f>
              <c:numCache>
                <c:ptCount val="6"/>
                <c:pt idx="0">
                  <c:v>18505436</c:v>
                </c:pt>
                <c:pt idx="1">
                  <c:v>7987756</c:v>
                </c:pt>
                <c:pt idx="2">
                  <c:v>3169846</c:v>
                </c:pt>
                <c:pt idx="3">
                  <c:v>1005796</c:v>
                </c:pt>
                <c:pt idx="4">
                  <c:v>491578</c:v>
                </c:pt>
                <c:pt idx="5">
                  <c:v>436200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 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Sheet1!$B$2:$B$11</c:f>
              <c:numCache>
                <c:ptCount val="10"/>
                <c:pt idx="0">
                  <c:v>284.59</c:v>
                </c:pt>
                <c:pt idx="1">
                  <c:v>339.72</c:v>
                </c:pt>
                <c:pt idx="2">
                  <c:v>426.72</c:v>
                </c:pt>
                <c:pt idx="3">
                  <c:v>546.97</c:v>
                </c:pt>
                <c:pt idx="4">
                  <c:v>594.94</c:v>
                </c:pt>
                <c:pt idx="5">
                  <c:v>646.2</c:v>
                </c:pt>
                <c:pt idx="6">
                  <c:v>692.24</c:v>
                </c:pt>
                <c:pt idx="7">
                  <c:v>737.29</c:v>
                </c:pt>
                <c:pt idx="8">
                  <c:v>776.19</c:v>
                </c:pt>
                <c:pt idx="9">
                  <c:v>815.31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2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800" smtId="4294967295"/>
      </a:pPr>
      <a:endParaRPr sz="800" smtId="4294967295"/>
    </a:p>
  </c:txPr>
  <c:externalData r:id="rId1"/>
</c:chartSpace>
</file>

<file path=ppt/charts/chart2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China</c:v>
                </c:pt>
                <c:pt idx="1">
                  <c:v>United States</c:v>
                </c:pt>
                <c:pt idx="2">
                  <c:v>Germany</c:v>
                </c:pt>
                <c:pt idx="3">
                  <c:v>United Kingdom</c:v>
                </c:pt>
                <c:pt idx="4">
                  <c:v>Spain</c:v>
                </c:pt>
                <c:pt idx="5">
                  <c:v>France</c:v>
                </c:pt>
                <c:pt idx="6">
                  <c:v>Italy</c:v>
                </c:pt>
                <c:pt idx="7">
                  <c:v>Switzerland</c:v>
                </c:pt>
                <c:pt idx="8">
                  <c:v>Austria</c:v>
                </c:pt>
              </c:strCache>
            </c:strRef>
          </c:cat>
          <c:val>
            <c:numRef>
              <c:f>Sheet1!$B$2:$B$10</c:f>
              <c:numCache>
                <c:ptCount val="9"/>
                <c:pt idx="0">
                  <c:v>139.35</c:v>
                </c:pt>
                <c:pt idx="1">
                  <c:v>48.01</c:v>
                </c:pt>
                <c:pt idx="2">
                  <c:v>7.17</c:v>
                </c:pt>
                <c:pt idx="3">
                  <c:v>6.3</c:v>
                </c:pt>
                <c:pt idx="4">
                  <c:v>5.43</c:v>
                </c:pt>
                <c:pt idx="5">
                  <c:v>5.3</c:v>
                </c:pt>
                <c:pt idx="6">
                  <c:v>3.83</c:v>
                </c:pt>
                <c:pt idx="7">
                  <c:v>1.07</c:v>
                </c:pt>
                <c:pt idx="8">
                  <c:v>0.68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Air</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Sheet1!$A$2:$A$4</c:f>
              <c:numCache>
                <c:formatCode>General</c:formatCode>
                <c:ptCount val="3"/>
                <c:pt idx="0">
                  <c:v>2005</c:v>
                </c:pt>
                <c:pt idx="1">
                  <c:v>2016</c:v>
                </c:pt>
                <c:pt idx="2">
                  <c:v>2030</c:v>
                </c:pt>
              </c:numCache>
            </c:numRef>
          </c:cat>
          <c:val>
            <c:numRef>
              <c:f>Sheet1!$B$2:$B$4</c:f>
              <c:numCache>
                <c:ptCount val="3"/>
                <c:pt idx="0">
                  <c:v>321</c:v>
                </c:pt>
                <c:pt idx="1">
                  <c:v>397</c:v>
                </c:pt>
                <c:pt idx="2">
                  <c:v>616</c:v>
                </c:pt>
              </c:numCache>
            </c:numRef>
          </c:val>
        </c:ser>
        <c:ser>
          <c:idx val="1"/>
          <c:order val="1"/>
          <c:tx>
            <c:strRef>
              <c:f>Sheet1!$C$1</c:f>
              <c:strCache>
                <c:ptCount val="1"/>
                <c:pt idx="0">
                  <c:v>Car</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Sheet1!$A$2:$A$4</c:f>
              <c:numCache>
                <c:formatCode>General</c:formatCode>
                <c:ptCount val="3"/>
                <c:pt idx="0">
                  <c:v>2005</c:v>
                </c:pt>
                <c:pt idx="1">
                  <c:v>2016</c:v>
                </c:pt>
                <c:pt idx="2">
                  <c:v>2030</c:v>
                </c:pt>
              </c:numCache>
            </c:numRef>
          </c:cat>
          <c:val>
            <c:numRef>
              <c:f>Sheet1!$C$2:$C$4</c:f>
              <c:numCache>
                <c:ptCount val="3"/>
                <c:pt idx="0">
                  <c:v>46</c:v>
                </c:pt>
                <c:pt idx="1">
                  <c:v>56</c:v>
                </c:pt>
                <c:pt idx="2">
                  <c:v>45</c:v>
                </c:pt>
              </c:numCache>
            </c:numRef>
          </c:val>
        </c:ser>
        <c:ser>
          <c:idx val="2"/>
          <c:order val="2"/>
          <c:tx>
            <c:strRef>
              <c:f>Sheet1!$D$1</c:f>
              <c:strCache>
                <c:ptCount val="1"/>
                <c:pt idx="0">
                  <c:v>Other</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Sheet1!$A$2:$A$4</c:f>
              <c:numCache>
                <c:formatCode>General</c:formatCode>
                <c:ptCount val="3"/>
                <c:pt idx="0">
                  <c:v>2005</c:v>
                </c:pt>
                <c:pt idx="1">
                  <c:v>2016</c:v>
                </c:pt>
                <c:pt idx="2">
                  <c:v>2030</c:v>
                </c:pt>
              </c:numCache>
            </c:numRef>
          </c:cat>
          <c:val>
            <c:numRef>
              <c:f>Sheet1!$D$2:$D$4</c:f>
              <c:numCache>
                <c:ptCount val="3"/>
                <c:pt idx="0">
                  <c:v>4</c:v>
                </c:pt>
                <c:pt idx="1">
                  <c:v>5</c:v>
                </c:pt>
                <c:pt idx="2">
                  <c:v>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Carbon dioxide emissions in million metric tons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2023</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Magic Kingdom (Walt Disney World), USA</c:v>
                </c:pt>
                <c:pt idx="1">
                  <c:v>Disneyland Anaheim, USA</c:v>
                </c:pt>
                <c:pt idx="2">
                  <c:v>Universal Studios, Japan</c:v>
                </c:pt>
                <c:pt idx="3">
                  <c:v>Tokyo Disneyland, Japan</c:v>
                </c:pt>
                <c:pt idx="4">
                  <c:v>Shanghai Disneyland, China</c:v>
                </c:pt>
                <c:pt idx="5">
                  <c:v>Chimelong Ocean Kingdom, China</c:v>
                </c:pt>
                <c:pt idx="6">
                  <c:v>Tokyo DisneySea, Japan</c:v>
                </c:pt>
                <c:pt idx="7">
                  <c:v>Epcot (Walt Disney World), USA</c:v>
                </c:pt>
                <c:pt idx="8">
                  <c:v>Disneyland Park, France</c:v>
                </c:pt>
                <c:pt idx="9">
                  <c:v>Disney's Hollywood Studios, USA</c:v>
                </c:pt>
                <c:pt idx="10">
                  <c:v>Islands of Adventure, USA</c:v>
                </c:pt>
                <c:pt idx="11">
                  <c:v>Disney's California Adventure, USA</c:v>
                </c:pt>
                <c:pt idx="12">
                  <c:v>Universal Studios Orlando, USA</c:v>
                </c:pt>
                <c:pt idx="13">
                  <c:v>Universal Studios Hollywood, USA</c:v>
                </c:pt>
                <c:pt idx="14">
                  <c:v>Universal Studios, China</c:v>
                </c:pt>
              </c:strCache>
            </c:strRef>
          </c:cat>
          <c:val>
            <c:numRef>
              <c:f>Sheet1!$B$2:$B$16</c:f>
              <c:numCache>
                <c:ptCount val="15"/>
                <c:pt idx="0">
                  <c:v>17.72</c:v>
                </c:pt>
                <c:pt idx="1">
                  <c:v>17.25</c:v>
                </c:pt>
                <c:pt idx="2">
                  <c:v>16</c:v>
                </c:pt>
                <c:pt idx="3">
                  <c:v>15.1</c:v>
                </c:pt>
                <c:pt idx="4">
                  <c:v>14</c:v>
                </c:pt>
                <c:pt idx="5">
                  <c:v>12.52</c:v>
                </c:pt>
                <c:pt idx="6">
                  <c:v>12.4</c:v>
                </c:pt>
                <c:pt idx="7">
                  <c:v>11.98</c:v>
                </c:pt>
                <c:pt idx="8">
                  <c:v>10.4</c:v>
                </c:pt>
                <c:pt idx="9">
                  <c:v>10.3</c:v>
                </c:pt>
                <c:pt idx="10">
                  <c:v>10</c:v>
                </c:pt>
                <c:pt idx="11">
                  <c:v>10</c:v>
                </c:pt>
                <c:pt idx="12">
                  <c:v>9.75</c:v>
                </c:pt>
                <c:pt idx="13">
                  <c:v>9.66</c:v>
                </c:pt>
                <c:pt idx="14">
                  <c:v>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4"/>
            <c:invertIfNegative val="0"/>
            <c:spPr>
              <a:solidFill>
                <a:srgbClr val="9B9B9B"/>
              </a:solidFill>
            </c:spPr>
          </c:dPt>
          <c:dPt>
            <c:idx val="5"/>
            <c:invertIfNegative val="0"/>
            <c:spPr>
              <a:solidFill>
                <a:srgbClr val="9B9B9B"/>
              </a:solidFill>
            </c:spPr>
          </c:dPt>
          <c:dPt>
            <c:idx val="6"/>
            <c:invertIfNegative val="0"/>
            <c:spPr>
              <a:solidFill>
                <a:srgbClr val="9B9B9B"/>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Cultural monuments</c:v>
                </c:pt>
                <c:pt idx="1">
                  <c:v>Natural monuments</c:v>
                </c:pt>
                <c:pt idx="2">
                  <c:v>Mixed</c:v>
                </c:pt>
                <c:pt idx="3">
                  <c:v>Total properties</c:v>
                </c:pt>
                <c:pt idx="4">
                  <c:v>In Danger</c:v>
                </c:pt>
                <c:pt idx="5">
                  <c:v>Transboundary</c:v>
                </c:pt>
                <c:pt idx="6">
                  <c:v>Delisted</c:v>
                </c:pt>
              </c:strCache>
            </c:strRef>
          </c:cat>
          <c:val>
            <c:numRef>
              <c:f>Sheet1!$B$2:$B$8</c:f>
              <c:numCache>
                <c:ptCount val="7"/>
                <c:pt idx="0">
                  <c:v>952</c:v>
                </c:pt>
                <c:pt idx="1">
                  <c:v>231</c:v>
                </c:pt>
                <c:pt idx="2">
                  <c:v>40</c:v>
                </c:pt>
                <c:pt idx="3">
                  <c:v>1223</c:v>
                </c:pt>
                <c:pt idx="4">
                  <c:v>56</c:v>
                </c:pt>
                <c:pt idx="5">
                  <c:v>49</c:v>
                </c:pt>
                <c:pt idx="6">
                  <c:v>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France</c:v>
                </c:pt>
                <c:pt idx="1">
                  <c:v>Japan</c:v>
                </c:pt>
                <c:pt idx="2">
                  <c:v>Italy</c:v>
                </c:pt>
                <c:pt idx="3">
                  <c:v>Germany</c:v>
                </c:pt>
                <c:pt idx="4">
                  <c:v>Spain</c:v>
                </c:pt>
                <c:pt idx="5">
                  <c:v>United States</c:v>
                </c:pt>
                <c:pt idx="6">
                  <c:v>United Kingdom</c:v>
                </c:pt>
                <c:pt idx="7">
                  <c:v>Belgium</c:v>
                </c:pt>
                <c:pt idx="8">
                  <c:v>Switzerland</c:v>
                </c:pt>
                <c:pt idx="9">
                  <c:v>Mainland China</c:v>
                </c:pt>
                <c:pt idx="10">
                  <c:v>Netherlands</c:v>
                </c:pt>
                <c:pt idx="11">
                  <c:v>Hong Kong SAR</c:v>
                </c:pt>
                <c:pt idx="12">
                  <c:v>Singapore</c:v>
                </c:pt>
                <c:pt idx="13">
                  <c:v>Taiwan</c:v>
                </c:pt>
                <c:pt idx="14">
                  <c:v>Portugal</c:v>
                </c:pt>
              </c:strCache>
            </c:strRef>
          </c:cat>
          <c:val>
            <c:numRef>
              <c:f>Sheet1!$B$2:$B$16</c:f>
              <c:numCache>
                <c:ptCount val="15"/>
                <c:pt idx="0">
                  <c:v>636</c:v>
                </c:pt>
                <c:pt idx="1">
                  <c:v>387</c:v>
                </c:pt>
                <c:pt idx="2">
                  <c:v>381</c:v>
                </c:pt>
                <c:pt idx="3">
                  <c:v>330</c:v>
                </c:pt>
                <c:pt idx="4">
                  <c:v>267</c:v>
                </c:pt>
                <c:pt idx="5">
                  <c:v>234</c:v>
                </c:pt>
                <c:pt idx="6">
                  <c:v>185</c:v>
                </c:pt>
                <c:pt idx="7">
                  <c:v>141</c:v>
                </c:pt>
                <c:pt idx="8">
                  <c:v>132</c:v>
                </c:pt>
                <c:pt idx="9">
                  <c:v>123</c:v>
                </c:pt>
                <c:pt idx="10">
                  <c:v>119</c:v>
                </c:pt>
                <c:pt idx="11">
                  <c:v>78</c:v>
                </c:pt>
                <c:pt idx="12">
                  <c:v>51</c:v>
                </c:pt>
                <c:pt idx="13">
                  <c:v>49</c:v>
                </c:pt>
                <c:pt idx="14">
                  <c:v>39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Sheet1!$A$2:$A$14</c:f>
              <c:numCache>
                <c:formatCode>General</c:formatCode>
                <c:ptCount val="13"/>
                <c:pt idx="0">
                  <c:v>2017</c:v>
                </c:pt>
                <c:pt idx="1">
                  <c:v>2018</c:v>
                </c:pt>
                <c:pt idx="2">
                  <c:v>2019</c:v>
                </c:pt>
                <c:pt idx="3">
                  <c:v>2020</c:v>
                </c:pt>
                <c:pt idx="4">
                  <c:v>2021</c:v>
                </c:pt>
                <c:pt idx="5">
                  <c:v>2022</c:v>
                </c:pt>
                <c:pt idx="6">
                  <c:v>2023</c:v>
                </c:pt>
                <c:pt idx="7">
                  <c:v>2024</c:v>
                </c:pt>
                <c:pt idx="8">
                  <c:v>2025</c:v>
                </c:pt>
                <c:pt idx="9">
                  <c:v>2026</c:v>
                </c:pt>
                <c:pt idx="10">
                  <c:v>2027</c:v>
                </c:pt>
                <c:pt idx="11">
                  <c:v>2028</c:v>
                </c:pt>
                <c:pt idx="12">
                  <c:v>2029</c:v>
                </c:pt>
              </c:numCache>
            </c:numRef>
          </c:cat>
          <c:val>
            <c:numRef>
              <c:f>Sheet1!$B$2:$B$14</c:f>
              <c:numCache>
                <c:ptCount val="13"/>
                <c:pt idx="0">
                  <c:v>437.34</c:v>
                </c:pt>
                <c:pt idx="1">
                  <c:v>465.59</c:v>
                </c:pt>
                <c:pt idx="2">
                  <c:v>493.97</c:v>
                </c:pt>
                <c:pt idx="3">
                  <c:v>226.18</c:v>
                </c:pt>
                <c:pt idx="4">
                  <c:v>324.04</c:v>
                </c:pt>
                <c:pt idx="5">
                  <c:v>493.99</c:v>
                </c:pt>
                <c:pt idx="6">
                  <c:v>603.46</c:v>
                </c:pt>
                <c:pt idx="7">
                  <c:v>642.02</c:v>
                </c:pt>
                <c:pt idx="8">
                  <c:v>679.93</c:v>
                </c:pt>
                <c:pt idx="9">
                  <c:v>717.41</c:v>
                </c:pt>
                <c:pt idx="10">
                  <c:v>756.35</c:v>
                </c:pt>
                <c:pt idx="11">
                  <c:v>796.71</c:v>
                </c:pt>
                <c:pt idx="12">
                  <c:v>837.95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Revenue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Sheet1!$A$2:$A$12</c:f>
              <c:strCache>
                <c:ptCount val="11"/>
                <c:pt idx="0">
                  <c:v>Booking Holdings</c:v>
                </c:pt>
                <c:pt idx="1">
                  <c:v>Expedia Group</c:v>
                </c:pt>
                <c:pt idx="2">
                  <c:v>Airbnb</c:v>
                </c:pt>
                <c:pt idx="3">
                  <c:v>Trip.com Group¹</c:v>
                </c:pt>
                <c:pt idx="4">
                  <c:v>Tripadvisor</c:v>
                </c:pt>
                <c:pt idx="5">
                  <c:v>MakeMyTrip¹</c:v>
                </c:pt>
                <c:pt idx="6">
                  <c:v>Despegar¹</c:v>
                </c:pt>
                <c:pt idx="7">
                  <c:v>eDreams ODIGEO¹</c:v>
                </c:pt>
                <c:pt idx="8">
                  <c:v>Trivago</c:v>
                </c:pt>
                <c:pt idx="9">
                  <c:v>Lastminute.com Group¹</c:v>
                </c:pt>
                <c:pt idx="10">
                  <c:v>On the Beach Group</c:v>
                </c:pt>
              </c:strCache>
            </c:strRef>
          </c:cat>
          <c:val>
            <c:numRef>
              <c:f>Sheet1!$B$2:$B$12</c:f>
              <c:numCache>
                <c:ptCount val="11"/>
                <c:pt idx="0">
                  <c:v>10.52</c:v>
                </c:pt>
                <c:pt idx="1">
                  <c:v>8.99</c:v>
                </c:pt>
                <c:pt idx="2">
                  <c:v>7.65</c:v>
                </c:pt>
                <c:pt idx="3">
                  <c:v>5.6</c:v>
                </c:pt>
                <c:pt idx="4">
                  <c:v>1.56</c:v>
                </c:pt>
                <c:pt idx="5">
                  <c:v>0.61</c:v>
                </c:pt>
                <c:pt idx="6">
                  <c:v>0.59</c:v>
                </c:pt>
                <c:pt idx="7">
                  <c:v>0.56</c:v>
                </c:pt>
                <c:pt idx="8">
                  <c:v>0.47</c:v>
                </c:pt>
                <c:pt idx="9">
                  <c:v>0.33</c:v>
                </c:pt>
                <c:pt idx="10">
                  <c:v>0.18</c:v>
                </c:pt>
              </c:numCache>
            </c:numRef>
          </c:val>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Sheet1!$A$2:$A$12</c:f>
              <c:strCache>
                <c:ptCount val="11"/>
                <c:pt idx="0">
                  <c:v>Booking Holdings</c:v>
                </c:pt>
                <c:pt idx="1">
                  <c:v>Expedia Group</c:v>
                </c:pt>
                <c:pt idx="2">
                  <c:v>Airbnb</c:v>
                </c:pt>
                <c:pt idx="3">
                  <c:v>Trip.com Group¹</c:v>
                </c:pt>
                <c:pt idx="4">
                  <c:v>Tripadvisor</c:v>
                </c:pt>
                <c:pt idx="5">
                  <c:v>MakeMyTrip¹</c:v>
                </c:pt>
                <c:pt idx="6">
                  <c:v>Despegar¹</c:v>
                </c:pt>
                <c:pt idx="7">
                  <c:v>eDreams ODIGEO¹</c:v>
                </c:pt>
                <c:pt idx="8">
                  <c:v>Trivago</c:v>
                </c:pt>
                <c:pt idx="9">
                  <c:v>Lastminute.com Group¹</c:v>
                </c:pt>
                <c:pt idx="10">
                  <c:v>On the Beach Group</c:v>
                </c:pt>
              </c:strCache>
            </c:strRef>
          </c:cat>
          <c:val>
            <c:numRef>
              <c:f>Sheet1!$C$2:$C$12</c:f>
              <c:numCache>
                <c:ptCount val="11"/>
                <c:pt idx="0">
                  <c:v>10.84</c:v>
                </c:pt>
                <c:pt idx="1">
                  <c:v>3.85</c:v>
                </c:pt>
                <c:pt idx="2">
                  <c:v>2.27</c:v>
                </c:pt>
                <c:pt idx="3">
                  <c:v>0.7</c:v>
                </c:pt>
                <c:pt idx="4">
                  <c:v>0.23</c:v>
                </c:pt>
                <c:pt idx="5">
                  <c:v>0.12</c:v>
                </c:pt>
                <c:pt idx="6">
                  <c:v>0.12</c:v>
                </c:pt>
                <c:pt idx="7">
                  <c:v>0.12</c:v>
                </c:pt>
                <c:pt idx="8">
                  <c:v>0.06</c:v>
                </c:pt>
                <c:pt idx="9">
                  <c:v>0.02</c:v>
                </c:pt>
                <c:pt idx="10">
                  <c:v>0.04</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Airbnb</c:v>
                </c:pt>
                <c:pt idx="1">
                  <c:v>Booking.com</c:v>
                </c:pt>
                <c:pt idx="2">
                  <c:v>Trip.com</c:v>
                </c:pt>
                <c:pt idx="3">
                  <c:v>Agoda</c:v>
                </c:pt>
                <c:pt idx="4">
                  <c:v>Expedia</c:v>
                </c:pt>
                <c:pt idx="5">
                  <c:v>Skyscanner</c:v>
                </c:pt>
                <c:pt idx="6">
                  <c:v>Ctrip</c:v>
                </c:pt>
                <c:pt idx="7">
                  <c:v>Tongcheng Travel</c:v>
                </c:pt>
                <c:pt idx="8">
                  <c:v>MakeMyTrip</c:v>
                </c:pt>
                <c:pt idx="9">
                  <c:v>trivago</c:v>
                </c:pt>
                <c:pt idx="10">
                  <c:v>Vrbo</c:v>
                </c:pt>
                <c:pt idx="11">
                  <c:v>Traveloka</c:v>
                </c:pt>
                <c:pt idx="12">
                  <c:v>Hotels.com</c:v>
                </c:pt>
                <c:pt idx="13">
                  <c:v>Despegar</c:v>
                </c:pt>
                <c:pt idx="14">
                  <c:v>Tripadvisor</c:v>
                </c:pt>
              </c:strCache>
            </c:strRef>
          </c:cat>
          <c:val>
            <c:numRef>
              <c:f>Sheet1!$B$2:$B$16</c:f>
              <c:numCache>
                <c:ptCount val="15"/>
                <c:pt idx="0">
                  <c:v>75.84</c:v>
                </c:pt>
                <c:pt idx="1">
                  <c:v>67.55</c:v>
                </c:pt>
                <c:pt idx="2">
                  <c:v>31.34</c:v>
                </c:pt>
                <c:pt idx="3">
                  <c:v>29.04</c:v>
                </c:pt>
                <c:pt idx="4">
                  <c:v>22.56</c:v>
                </c:pt>
                <c:pt idx="5">
                  <c:v>21.26</c:v>
                </c:pt>
                <c:pt idx="6">
                  <c:v>19.61</c:v>
                </c:pt>
                <c:pt idx="7">
                  <c:v>16.57</c:v>
                </c:pt>
                <c:pt idx="8">
                  <c:v>14.77</c:v>
                </c:pt>
                <c:pt idx="9">
                  <c:v>13.59</c:v>
                </c:pt>
                <c:pt idx="10">
                  <c:v>11.69</c:v>
                </c:pt>
                <c:pt idx="11">
                  <c:v>11.4</c:v>
                </c:pt>
                <c:pt idx="12">
                  <c:v>10.19</c:v>
                </c:pt>
                <c:pt idx="13">
                  <c:v>6.91</c:v>
                </c:pt>
                <c:pt idx="14">
                  <c:v>6.06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Booking Holdings (United States)</c:v>
                </c:pt>
                <c:pt idx="1">
                  <c:v>Airbnb (United States)</c:v>
                </c:pt>
                <c:pt idx="2">
                  <c:v>Trip.com Group (China)</c:v>
                </c:pt>
                <c:pt idx="3">
                  <c:v>Amadeus IT Group (Spain)</c:v>
                </c:pt>
                <c:pt idx="4">
                  <c:v>Expedia Group (United States)</c:v>
                </c:pt>
                <c:pt idx="5">
                  <c:v>MakeMyTrip (India)</c:v>
                </c:pt>
                <c:pt idx="6">
                  <c:v>Tongcheng Travel Holdings (China)</c:v>
                </c:pt>
                <c:pt idx="7">
                  <c:v>Global Business Travel Group (United States)</c:v>
                </c:pt>
                <c:pt idx="8">
                  <c:v>Tripadvisor (United States)</c:v>
                </c:pt>
                <c:pt idx="9">
                  <c:v>Despegar (Argentina)</c:v>
                </c:pt>
                <c:pt idx="10">
                  <c:v>Sabre Corporation (United States)</c:v>
                </c:pt>
                <c:pt idx="11">
                  <c:v>eDreams ODIGEO (Spain)</c:v>
                </c:pt>
                <c:pt idx="12">
                  <c:v>Web Travel Group (Australia)</c:v>
                </c:pt>
                <c:pt idx="13">
                  <c:v>On the Beach Group (United Kingdom)</c:v>
                </c:pt>
                <c:pt idx="14">
                  <c:v>Trivago (Germany)</c:v>
                </c:pt>
              </c:strCache>
            </c:strRef>
          </c:cat>
          <c:val>
            <c:numRef>
              <c:f>Sheet1!$B$2:$B$16</c:f>
              <c:numCache>
                <c:ptCount val="15"/>
                <c:pt idx="0">
                  <c:v>146061</c:v>
                </c:pt>
                <c:pt idx="1">
                  <c:v>79095</c:v>
                </c:pt>
                <c:pt idx="2">
                  <c:v>43228</c:v>
                </c:pt>
                <c:pt idx="3">
                  <c:v>34028</c:v>
                </c:pt>
                <c:pt idx="4">
                  <c:v>22756</c:v>
                </c:pt>
                <c:pt idx="5">
                  <c:v>9326</c:v>
                </c:pt>
                <c:pt idx="6">
                  <c:v>6141</c:v>
                </c:pt>
                <c:pt idx="7">
                  <c:v>3736</c:v>
                </c:pt>
                <c:pt idx="8">
                  <c:v>1868</c:v>
                </c:pt>
                <c:pt idx="9">
                  <c:v>1606</c:v>
                </c:pt>
                <c:pt idx="10">
                  <c:v>1382</c:v>
                </c:pt>
                <c:pt idx="11">
                  <c:v>1108</c:v>
                </c:pt>
                <c:pt idx="12">
                  <c:v>1058</c:v>
                </c:pt>
                <c:pt idx="13">
                  <c:v>467</c:v>
                </c:pt>
                <c:pt idx="14">
                  <c:v>280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Artificial intelligence (AI) and machine learning (ML)</c:v>
                </c:pt>
                <c:pt idx="1">
                  <c:v>Internet of things (IoT)</c:v>
                </c:pt>
                <c:pt idx="2">
                  <c:v>Immersive tech</c:v>
                </c:pt>
                <c:pt idx="3">
                  <c:v>Blockchain and web3</c:v>
                </c:pt>
                <c:pt idx="4">
                  <c:v>3D printing</c:v>
                </c:pt>
                <c:pt idx="5">
                  <c:v>Quantum computing</c:v>
                </c:pt>
              </c:strCache>
            </c:strRef>
          </c:cat>
          <c:val>
            <c:numRef>
              <c:f>Sheet1!$B$2:$B$7</c:f>
              <c:numCache>
                <c:ptCount val="6"/>
                <c:pt idx="0">
                  <c:v>0.65</c:v>
                </c:pt>
                <c:pt idx="1">
                  <c:v>0.13</c:v>
                </c:pt>
                <c:pt idx="2">
                  <c:v>0.1</c:v>
                </c:pt>
                <c:pt idx="3">
                  <c:v>0.07</c:v>
                </c:pt>
                <c:pt idx="4">
                  <c:v>0.03</c:v>
                </c:pt>
                <c:pt idx="5">
                  <c:v>0.02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United States</c:v>
                </c:pt>
                <c:pt idx="1">
                  <c:v>India</c:v>
                </c:pt>
                <c:pt idx="2">
                  <c:v>United Arab Emirates</c:v>
                </c:pt>
                <c:pt idx="3">
                  <c:v>Saudi Arabia</c:v>
                </c:pt>
                <c:pt idx="4">
                  <c:v>Singapore</c:v>
                </c:pt>
                <c:pt idx="5">
                  <c:v>South Korea</c:v>
                </c:pt>
                <c:pt idx="6">
                  <c:v>Spain</c:v>
                </c:pt>
                <c:pt idx="7">
                  <c:v>Italy</c:v>
                </c:pt>
                <c:pt idx="8">
                  <c:v>Germany</c:v>
                </c:pt>
                <c:pt idx="9">
                  <c:v>Canada</c:v>
                </c:pt>
                <c:pt idx="10">
                  <c:v>France</c:v>
                </c:pt>
                <c:pt idx="11">
                  <c:v>Australia</c:v>
                </c:pt>
                <c:pt idx="12">
                  <c:v>Netherlands</c:v>
                </c:pt>
                <c:pt idx="13">
                  <c:v>United Kingdom</c:v>
                </c:pt>
                <c:pt idx="14">
                  <c:v>Japan</c:v>
                </c:pt>
              </c:strCache>
            </c:strRef>
          </c:cat>
          <c:val>
            <c:numRef>
              <c:f>Sheet1!$B$2:$B$16</c:f>
              <c:numCache>
                <c:ptCount val="15"/>
                <c:pt idx="0">
                  <c:v>0.63</c:v>
                </c:pt>
                <c:pt idx="1">
                  <c:v>0.45</c:v>
                </c:pt>
                <c:pt idx="2">
                  <c:v>0.31</c:v>
                </c:pt>
                <c:pt idx="3">
                  <c:v>0.3</c:v>
                </c:pt>
                <c:pt idx="4">
                  <c:v>0.23</c:v>
                </c:pt>
                <c:pt idx="5">
                  <c:v>0.17</c:v>
                </c:pt>
                <c:pt idx="6">
                  <c:v>0.16</c:v>
                </c:pt>
                <c:pt idx="7">
                  <c:v>0.14</c:v>
                </c:pt>
                <c:pt idx="8">
                  <c:v>0.14</c:v>
                </c:pt>
                <c:pt idx="9">
                  <c:v>0.11</c:v>
                </c:pt>
                <c:pt idx="10">
                  <c:v>0.11</c:v>
                </c:pt>
                <c:pt idx="11">
                  <c:v>0.1</c:v>
                </c:pt>
                <c:pt idx="12">
                  <c:v>0.1</c:v>
                </c:pt>
                <c:pt idx="13">
                  <c:v>0.08</c:v>
                </c:pt>
                <c:pt idx="14">
                  <c:v>0.05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pieChart>
        <c:varyColors val="0"/>
        <c:ser>
          <c:idx val="0"/>
          <c:order val="0"/>
          <c:tx>
            <c:strRef>
              <c:f>Sheet1!$B$1</c:f>
              <c:strCache>
                <c:ptCount val="1"/>
                <c:pt idx="0">
                  <c:v>2024</c:v>
                </c:pt>
              </c:strCache>
            </c:strRef>
          </c:tx>
          <c:spPr>
            <a:solidFill>
              <a:srgbClr val="2875DD"/>
            </a:solidFill>
            <a:ln>
              <a:solidFill>
                <a:srgbClr val="2875DD"/>
              </a:solidFill>
            </a:ln>
          </c:spPr>
          <c:dPt>
            <c:idx val="0"/>
            <c:invertIfNegative val="0"/>
            <c:spPr>
              <a:solidFill>
                <a:srgbClr val="2875DD"/>
              </a:solidFill>
            </c:spPr>
          </c:dPt>
          <c:dPt>
            <c:idx val="1"/>
            <c:invertIfNegative val="0"/>
            <c:spPr>
              <a:solidFill>
                <a:srgbClr val="0F283E"/>
              </a:solidFill>
            </c:spPr>
          </c:dPt>
          <c:dLbls>
            <c:dLbl>
              <c:idx val="0"/>
              <c:numFmt formatCode="#,##0%" sourceLinked="0"/>
              <c:txPr>
                <a:bodyPr/>
                <a:p>
                  <a:pPr>
                    <a:defRPr sz="1100" b="0" smtId="4294967295">
                      <a:solidFill>
                        <a:srgbClr val="0F2741"/>
                      </a:solidFill>
                      <a:effectLst>
                        <a:glow rad="50800">
                          <a:srgbClr val="FFFFFF"/>
                        </a:glow>
                      </a:effectLst>
                      <a:latin typeface="Open Sans"/>
                    </a:defRPr>
                  </a:pPr>
                  <a:endParaRPr sz="1100" b="0" smtId="4294967295">
                    <a:solidFill>
                      <a:srgbClr val="0F2741"/>
                    </a:solidFill>
                    <a:effectLst>
                      <a:glow rad="50800">
                        <a:srgbClr val="FFFFFF"/>
                      </a:glow>
                    </a:effectLst>
                    <a:latin typeface="Open Sans"/>
                  </a:endParaRPr>
                </a:p>
              </c:txPr>
              <c:dLblPos val="bestFit"/>
              <c:showLegendKey val="1"/>
              <c:showVal val="0"/>
              <c:showCatName val="1"/>
              <c:showSerName val="0"/>
              <c:showPercent val="1"/>
              <c:showBubbleSize val="0"/>
              <c:separator> </c:separator>
              <c:extLst/>
            </c:dLbl>
            <c:dLbl>
              <c:idx val="1"/>
              <c:numFmt formatCode="#,##0%" sourceLinked="0"/>
              <c:txPr>
                <a:bodyPr/>
                <a:p>
                  <a:pPr>
                    <a:defRPr sz="1100" b="0" smtId="4294967295">
                      <a:solidFill>
                        <a:srgbClr val="0F2741"/>
                      </a:solidFill>
                      <a:effectLst>
                        <a:glow rad="50800">
                          <a:srgbClr val="FFFFFF"/>
                        </a:glow>
                      </a:effectLst>
                      <a:latin typeface="Open Sans"/>
                    </a:defRPr>
                  </a:pPr>
                  <a:endParaRPr sz="1100" b="0" smtId="4294967295">
                    <a:solidFill>
                      <a:srgbClr val="0F2741"/>
                    </a:solidFill>
                    <a:effectLst>
                      <a:glow rad="50800">
                        <a:srgbClr val="FFFFFF"/>
                      </a:glow>
                    </a:effectLst>
                    <a:latin typeface="Open Sans"/>
                  </a:endParaRPr>
                </a:p>
              </c:txPr>
              <c:dLblPos val="bestFit"/>
              <c:showLegendKey val="1"/>
              <c:showVal val="0"/>
              <c:showCatName val="1"/>
              <c:showSerName val="0"/>
              <c:showPercent val="1"/>
              <c:showBubbleSize val="0"/>
              <c:separator> </c:separator>
              <c:extLst/>
            </c:dLbl>
            <c:txPr>
              <a:bodyPr/>
              <a:p>
                <a:pPr>
                  <a:defRPr sz="1100" b="0" smtId="4294967295">
                    <a:solidFill>
                      <a:srgbClr val="0F2741"/>
                    </a:solidFill>
                    <a:latin typeface="Open Sans"/>
                  </a:defRPr>
                </a:pPr>
                <a:endParaRPr sz="1100" b="0" smtId="4294967295">
                  <a:solidFill>
                    <a:srgbClr val="0F2741"/>
                  </a:solidFill>
                  <a:latin typeface="Open Sans"/>
                </a:endParaRPr>
              </a:p>
            </c:txPr>
            <c:dLblPos val="bestFit"/>
            <c:showLegendKey val="1"/>
            <c:showVal val="0"/>
            <c:showCatName val="1"/>
            <c:showSerName val="0"/>
            <c:showPercent val="1"/>
            <c:showBubbleSize val="0"/>
            <c:separator> </c:separator>
            <c:showLeaderLines val="1"/>
            <c:extLst/>
          </c:dLbls>
          <c:cat>
            <c:strRef>
              <c:f>Sheet1!$A$2:$A$3</c:f>
              <c:strCache>
                <c:ptCount val="2"/>
                <c:pt idx="0">
                  <c:v>Sustainable travel is important</c:v>
                </c:pt>
                <c:pt idx="1">
                  <c:v>Other*</c:v>
                </c:pt>
              </c:strCache>
            </c:strRef>
          </c:cat>
          <c:val>
            <c:numRef>
              <c:f>Sheet1!$B$2:$B$3</c:f>
              <c:numCache>
                <c:ptCount val="2"/>
                <c:pt idx="0">
                  <c:v>0.83</c:v>
                </c:pt>
                <c:pt idx="1">
                  <c:v>0.17</c:v>
                </c:pt>
              </c:numCache>
            </c:numRef>
          </c:val>
        </c:ser>
        <c:dLbls>
          <c:showLegendKey val="0"/>
          <c:showVal val="0"/>
          <c:showCatName val="0"/>
          <c:showSerName val="0"/>
          <c:showPercent val="0"/>
          <c:showBubbleSize val="0"/>
          <c:showLeaderLines val="0"/>
        </c:dLbls>
        <c:firstSliceAng/>
      </c:pieChart>
    </c:plotArea>
    <c:plotVisOnly val="1"/>
    <c:dispBlanksAs val="gap"/>
    <c:showDLblsOverMax val="1"/>
  </c:chart>
  <c:txPr>
    <a:bodyPr/>
    <a:p>
      <a:pPr>
        <a:defRPr sz="1800" smtId="4294967295"/>
      </a:pPr>
      <a:endParaRPr sz="1800" smtId="4294967295"/>
    </a:p>
  </c:txPr>
  <c:externalData r:id="rId1"/>
</c:chartSpace>
</file>

<file path=ppt/charts/chart3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Because they believe it's the right thing to do</c:v>
                </c:pt>
                <c:pt idx="1">
                  <c:v>Believe traveling more sustainably will enhance their experience</c:v>
                </c:pt>
                <c:pt idx="2">
                  <c:v>Believe they would have a more authentic experience of the local culture</c:v>
                </c:pt>
                <c:pt idx="3">
                  <c:v>Will do so because it will make their trip more fun</c:v>
                </c:pt>
              </c:strCache>
            </c:strRef>
          </c:cat>
          <c:val>
            <c:numRef>
              <c:f>Sheet1!$B$2:$B$5</c:f>
              <c:numCache>
                <c:ptCount val="4"/>
                <c:pt idx="0">
                  <c:v>0.32</c:v>
                </c:pt>
                <c:pt idx="1">
                  <c:v>0.16</c:v>
                </c:pt>
                <c:pt idx="2">
                  <c:v>0.11</c:v>
                </c:pt>
                <c:pt idx="3">
                  <c:v>0.07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Sheet1!$A$2:$A$9</c:f>
              <c:numCache>
                <c:formatCode>General</c:formatCode>
                <c:ptCount val="8"/>
                <c:pt idx="0">
                  <c:v>2017</c:v>
                </c:pt>
                <c:pt idx="1">
                  <c:v>2018</c:v>
                </c:pt>
                <c:pt idx="2">
                  <c:v>2019</c:v>
                </c:pt>
                <c:pt idx="3">
                  <c:v>2020</c:v>
                </c:pt>
                <c:pt idx="4">
                  <c:v>2021</c:v>
                </c:pt>
                <c:pt idx="5">
                  <c:v>2022</c:v>
                </c:pt>
                <c:pt idx="6">
                  <c:v>2023</c:v>
                </c:pt>
                <c:pt idx="7">
                  <c:v>2024</c:v>
                </c:pt>
              </c:numCache>
            </c:numRef>
          </c:cat>
          <c:val>
            <c:numRef>
              <c:f>Sheet1!$B$2:$B$9</c:f>
              <c:numCache>
                <c:ptCount val="8"/>
                <c:pt idx="0">
                  <c:v>2.56</c:v>
                </c:pt>
                <c:pt idx="1">
                  <c:v>3.65</c:v>
                </c:pt>
                <c:pt idx="2">
                  <c:v>4.81</c:v>
                </c:pt>
                <c:pt idx="3">
                  <c:v>3.38</c:v>
                </c:pt>
                <c:pt idx="4">
                  <c:v>5.99</c:v>
                </c:pt>
                <c:pt idx="5">
                  <c:v>8.4</c:v>
                </c:pt>
                <c:pt idx="6">
                  <c:v>9.92</c:v>
                </c:pt>
                <c:pt idx="7">
                  <c:v>11.1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Revenue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Sheet1!$A$2:$A$9</c:f>
              <c:numCache>
                <c:formatCode>General</c:formatCode>
                <c:ptCount val="8"/>
                <c:pt idx="0">
                  <c:v>2017</c:v>
                </c:pt>
                <c:pt idx="1">
                  <c:v>2018</c:v>
                </c:pt>
                <c:pt idx="2">
                  <c:v>2019</c:v>
                </c:pt>
                <c:pt idx="3">
                  <c:v>2020</c:v>
                </c:pt>
                <c:pt idx="4">
                  <c:v>2021</c:v>
                </c:pt>
                <c:pt idx="5">
                  <c:v>2022</c:v>
                </c:pt>
                <c:pt idx="6">
                  <c:v>2023</c:v>
                </c:pt>
                <c:pt idx="7">
                  <c:v>2024</c:v>
                </c:pt>
              </c:numCache>
            </c:numRef>
          </c:cat>
          <c:val>
            <c:numRef>
              <c:f>Sheet1!$B$2:$B$9</c:f>
              <c:numCache>
                <c:ptCount val="8"/>
                <c:pt idx="0">
                  <c:v>185.8</c:v>
                </c:pt>
                <c:pt idx="1">
                  <c:v>250.3</c:v>
                </c:pt>
                <c:pt idx="2">
                  <c:v>326.9</c:v>
                </c:pt>
                <c:pt idx="3">
                  <c:v>193.2</c:v>
                </c:pt>
                <c:pt idx="4">
                  <c:v>300.6</c:v>
                </c:pt>
                <c:pt idx="5">
                  <c:v>393.7</c:v>
                </c:pt>
                <c:pt idx="6">
                  <c:v>448.2</c:v>
                </c:pt>
                <c:pt idx="7">
                  <c:v>492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Nights and experiences booked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Hotels</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Sheet1!$A$2:$A$11</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Sheet1!$B$2:$B$11</c:f>
              <c:numCache>
                <c:ptCount val="10"/>
                <c:pt idx="0">
                  <c:v>143.91</c:v>
                </c:pt>
                <c:pt idx="1">
                  <c:v>218.13</c:v>
                </c:pt>
                <c:pt idx="2">
                  <c:v>355.37</c:v>
                </c:pt>
                <c:pt idx="3">
                  <c:v>411.03</c:v>
                </c:pt>
                <c:pt idx="4">
                  <c:v>426.46</c:v>
                </c:pt>
                <c:pt idx="5">
                  <c:v>443.07</c:v>
                </c:pt>
                <c:pt idx="6">
                  <c:v>459.29</c:v>
                </c:pt>
                <c:pt idx="7">
                  <c:v>476.08</c:v>
                </c:pt>
                <c:pt idx="8">
                  <c:v>493.31</c:v>
                </c:pt>
                <c:pt idx="9">
                  <c:v>511.91</c:v>
                </c:pt>
              </c:numCache>
            </c:numRef>
          </c:val>
        </c:ser>
        <c:ser>
          <c:idx val="1"/>
          <c:order val="1"/>
          <c:tx>
            <c:strRef>
              <c:f>Sheet1!$C$1</c:f>
              <c:strCache>
                <c:ptCount val="1"/>
                <c:pt idx="0">
                  <c:v>Package Holidays</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Sheet1!$A$2:$A$11</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Sheet1!$C$2:$C$11</c:f>
              <c:numCache>
                <c:ptCount val="10"/>
                <c:pt idx="0">
                  <c:v>110.28</c:v>
                </c:pt>
                <c:pt idx="1">
                  <c:v>164.29</c:v>
                </c:pt>
                <c:pt idx="2">
                  <c:v>223.81</c:v>
                </c:pt>
                <c:pt idx="3">
                  <c:v>288.88</c:v>
                </c:pt>
                <c:pt idx="4">
                  <c:v>300.88</c:v>
                </c:pt>
                <c:pt idx="5">
                  <c:v>313.9</c:v>
                </c:pt>
                <c:pt idx="6">
                  <c:v>325.33</c:v>
                </c:pt>
                <c:pt idx="7">
                  <c:v>337.2</c:v>
                </c:pt>
                <c:pt idx="8">
                  <c:v>349.54</c:v>
                </c:pt>
                <c:pt idx="9">
                  <c:v>362.62</c:v>
                </c:pt>
              </c:numCache>
            </c:numRef>
          </c:val>
        </c:ser>
        <c:ser>
          <c:idx val="2"/>
          <c:order val="2"/>
          <c:tx>
            <c:strRef>
              <c:f>Sheet1!$D$1</c:f>
              <c:strCache>
                <c:ptCount val="1"/>
                <c:pt idx="0">
                  <c:v>Vacation Rentals</c:v>
                </c:pt>
              </c:strCache>
            </c:strRef>
          </c:tx>
          <c:spPr>
            <a:solidFill>
              <a:srgbClr val="BABABA"/>
            </a:solidFill>
            <a:ln>
              <a:solidFill>
                <a:srgbClr val="BABABA"/>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Sheet1!$A$2:$A$11</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Sheet1!$D$2:$D$11</c:f>
              <c:numCache>
                <c:ptCount val="10"/>
                <c:pt idx="0">
                  <c:v>47.74</c:v>
                </c:pt>
                <c:pt idx="1">
                  <c:v>57.94</c:v>
                </c:pt>
                <c:pt idx="2">
                  <c:v>81.47</c:v>
                </c:pt>
                <c:pt idx="3">
                  <c:v>94.51</c:v>
                </c:pt>
                <c:pt idx="4">
                  <c:v>100.23</c:v>
                </c:pt>
                <c:pt idx="5">
                  <c:v>105.71</c:v>
                </c:pt>
                <c:pt idx="6">
                  <c:v>110.59</c:v>
                </c:pt>
                <c:pt idx="7">
                  <c:v>115.43</c:v>
                </c:pt>
                <c:pt idx="8">
                  <c:v>120.33</c:v>
                </c:pt>
                <c:pt idx="9">
                  <c:v>125.58</c:v>
                </c:pt>
              </c:numCache>
            </c:numRef>
          </c:val>
        </c:ser>
        <c:ser>
          <c:idx val="3"/>
          <c:order val="3"/>
          <c:tx>
            <c:strRef>
              <c:f>Sheet1!$E$1</c:f>
              <c:strCache>
                <c:ptCount val="1"/>
                <c:pt idx="0">
                  <c:v>Camping</c:v>
                </c:pt>
              </c:strCache>
            </c:strRef>
          </c:tx>
          <c:spPr>
            <a:solidFill>
              <a:srgbClr val="A60B0B"/>
            </a:solidFill>
            <a:ln>
              <a:solidFill>
                <a:srgbClr val="A60B0B"/>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Sheet1!$A$2:$A$11</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Sheet1!$E$2:$E$11</c:f>
              <c:numCache>
                <c:ptCount val="10"/>
                <c:pt idx="0">
                  <c:v>41.06</c:v>
                </c:pt>
                <c:pt idx="1">
                  <c:v>40.08</c:v>
                </c:pt>
                <c:pt idx="2">
                  <c:v>40.02</c:v>
                </c:pt>
                <c:pt idx="3">
                  <c:v>43.39</c:v>
                </c:pt>
                <c:pt idx="4">
                  <c:v>46.16</c:v>
                </c:pt>
                <c:pt idx="5">
                  <c:v>48.86</c:v>
                </c:pt>
                <c:pt idx="6">
                  <c:v>51.7</c:v>
                </c:pt>
                <c:pt idx="7">
                  <c:v>54.68</c:v>
                </c:pt>
                <c:pt idx="8">
                  <c:v>57.73</c:v>
                </c:pt>
                <c:pt idx="9">
                  <c:v>60.81</c:v>
                </c:pt>
              </c:numCache>
            </c:numRef>
          </c:val>
        </c:ser>
        <c:ser>
          <c:idx val="4"/>
          <c:order val="4"/>
          <c:tx>
            <c:strRef>
              <c:f>Sheet1!$F$1</c:f>
              <c:strCache>
                <c:ptCount val="1"/>
                <c:pt idx="0">
                  <c:v>Cruises</c:v>
                </c:pt>
              </c:strCache>
            </c:strRef>
          </c:tx>
          <c:spPr>
            <a:solidFill>
              <a:srgbClr val="87BC24"/>
            </a:solidFill>
            <a:ln>
              <a:solidFill>
                <a:srgbClr val="87BC24"/>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Sheet1!$A$2:$A$11</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Sheet1!$F$2:$F$11</c:f>
              <c:numCache>
                <c:ptCount val="10"/>
                <c:pt idx="0">
                  <c:v>8.08</c:v>
                </c:pt>
                <c:pt idx="1">
                  <c:v>3.11</c:v>
                </c:pt>
                <c:pt idx="2">
                  <c:v>21.43</c:v>
                </c:pt>
                <c:pt idx="3">
                  <c:v>39.19</c:v>
                </c:pt>
                <c:pt idx="4">
                  <c:v>42.3</c:v>
                </c:pt>
                <c:pt idx="5">
                  <c:v>44.39</c:v>
                </c:pt>
                <c:pt idx="6">
                  <c:v>46.56</c:v>
                </c:pt>
                <c:pt idx="7">
                  <c:v>48.78</c:v>
                </c:pt>
                <c:pt idx="8">
                  <c:v>51.07</c:v>
                </c:pt>
                <c:pt idx="9">
                  <c:v>53.49</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Revenue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Online</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Sheet1!$A$2:$A$12</c:f>
              <c:numCache>
                <c:formatCode>General</c:formatCode>
                <c:ptCount val="11"/>
                <c:pt idx="0">
                  <c:v>2019</c:v>
                </c:pt>
                <c:pt idx="1">
                  <c:v>2020</c:v>
                </c:pt>
                <c:pt idx="2">
                  <c:v>2021</c:v>
                </c:pt>
                <c:pt idx="3">
                  <c:v>2022</c:v>
                </c:pt>
                <c:pt idx="4">
                  <c:v>2023</c:v>
                </c:pt>
                <c:pt idx="5">
                  <c:v>2024</c:v>
                </c:pt>
                <c:pt idx="6">
                  <c:v>2025</c:v>
                </c:pt>
                <c:pt idx="7">
                  <c:v>2026</c:v>
                </c:pt>
                <c:pt idx="8">
                  <c:v>2027</c:v>
                </c:pt>
                <c:pt idx="9">
                  <c:v>2028</c:v>
                </c:pt>
                <c:pt idx="10">
                  <c:v>2029</c:v>
                </c:pt>
              </c:numCache>
            </c:numRef>
          </c:cat>
          <c:val>
            <c:numRef>
              <c:f>Sheet1!$B$2:$B$12</c:f>
              <c:numCache>
                <c:ptCount val="11"/>
                <c:pt idx="0">
                  <c:v>0.6299</c:v>
                </c:pt>
                <c:pt idx="1">
                  <c:v>0.6442</c:v>
                </c:pt>
                <c:pt idx="2">
                  <c:v>0.6702</c:v>
                </c:pt>
                <c:pt idx="3">
                  <c:v>0.6841</c:v>
                </c:pt>
                <c:pt idx="4">
                  <c:v>0.6881</c:v>
                </c:pt>
                <c:pt idx="5">
                  <c:v>0.7009</c:v>
                </c:pt>
                <c:pt idx="6">
                  <c:v>0.7113</c:v>
                </c:pt>
                <c:pt idx="7">
                  <c:v>0.7221</c:v>
                </c:pt>
                <c:pt idx="8">
                  <c:v>0.7329</c:v>
                </c:pt>
                <c:pt idx="9">
                  <c:v>0.7432</c:v>
                </c:pt>
                <c:pt idx="10">
                  <c:v>0.7522</c:v>
                </c:pt>
              </c:numCache>
            </c:numRef>
          </c:val>
        </c:ser>
        <c:ser>
          <c:idx val="1"/>
          <c:order val="1"/>
          <c:tx>
            <c:strRef>
              <c:f>Sheet1!$C$1</c:f>
              <c:strCache>
                <c:ptCount val="1"/>
                <c:pt idx="0">
                  <c:v>Offline</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Sheet1!$A$2:$A$12</c:f>
              <c:numCache>
                <c:formatCode>General</c:formatCode>
                <c:ptCount val="11"/>
                <c:pt idx="0">
                  <c:v>2019</c:v>
                </c:pt>
                <c:pt idx="1">
                  <c:v>2020</c:v>
                </c:pt>
                <c:pt idx="2">
                  <c:v>2021</c:v>
                </c:pt>
                <c:pt idx="3">
                  <c:v>2022</c:v>
                </c:pt>
                <c:pt idx="4">
                  <c:v>2023</c:v>
                </c:pt>
                <c:pt idx="5">
                  <c:v>2024</c:v>
                </c:pt>
                <c:pt idx="6">
                  <c:v>2025</c:v>
                </c:pt>
                <c:pt idx="7">
                  <c:v>2026</c:v>
                </c:pt>
                <c:pt idx="8">
                  <c:v>2027</c:v>
                </c:pt>
                <c:pt idx="9">
                  <c:v>2028</c:v>
                </c:pt>
                <c:pt idx="10">
                  <c:v>2029</c:v>
                </c:pt>
              </c:numCache>
            </c:numRef>
          </c:cat>
          <c:val>
            <c:numRef>
              <c:f>Sheet1!$C$2:$C$12</c:f>
              <c:numCache>
                <c:ptCount val="11"/>
                <c:pt idx="0">
                  <c:v>0.3701</c:v>
                </c:pt>
                <c:pt idx="1">
                  <c:v>0.3558</c:v>
                </c:pt>
                <c:pt idx="2">
                  <c:v>0.3298</c:v>
                </c:pt>
                <c:pt idx="3">
                  <c:v>0.3159</c:v>
                </c:pt>
                <c:pt idx="4">
                  <c:v>0.3119</c:v>
                </c:pt>
                <c:pt idx="5">
                  <c:v>0.2991</c:v>
                </c:pt>
                <c:pt idx="6">
                  <c:v>0.2887</c:v>
                </c:pt>
                <c:pt idx="7">
                  <c:v>0.2779</c:v>
                </c:pt>
                <c:pt idx="8">
                  <c:v>0.2671</c:v>
                </c:pt>
                <c:pt idx="9">
                  <c:v>0.2568</c:v>
                </c:pt>
                <c:pt idx="10">
                  <c:v>0.2478</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revenue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2020</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Middle East</c:v>
                </c:pt>
                <c:pt idx="2">
                  <c:v>Africa</c:v>
                </c:pt>
                <c:pt idx="3">
                  <c:v>Europe</c:v>
                </c:pt>
                <c:pt idx="4">
                  <c:v>Americas</c:v>
                </c:pt>
              </c:strCache>
            </c:strRef>
          </c:cat>
          <c:val>
            <c:numRef>
              <c:f>Sheet1!$B$2:$B$6</c:f>
              <c:numCache>
                <c:ptCount val="5"/>
                <c:pt idx="0">
                  <c:v>-0.836</c:v>
                </c:pt>
                <c:pt idx="1">
                  <c:v>-0.725</c:v>
                </c:pt>
                <c:pt idx="2">
                  <c:v>-0.74</c:v>
                </c:pt>
                <c:pt idx="3">
                  <c:v>-0.682</c:v>
                </c:pt>
                <c:pt idx="4">
                  <c:v>-0.684</c:v>
                </c:pt>
              </c:numCache>
            </c:numRef>
          </c:val>
        </c:ser>
        <c:ser>
          <c:idx val="1"/>
          <c:order val="1"/>
          <c:tx>
            <c:strRef>
              <c:f>Sheet1!$C$1</c:f>
              <c:strCache>
                <c:ptCount val="1"/>
                <c:pt idx="0">
                  <c:v>2021</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Middle East</c:v>
                </c:pt>
                <c:pt idx="2">
                  <c:v>Africa</c:v>
                </c:pt>
                <c:pt idx="3">
                  <c:v>Europe</c:v>
                </c:pt>
                <c:pt idx="4">
                  <c:v>Americas</c:v>
                </c:pt>
              </c:strCache>
            </c:strRef>
          </c:cat>
          <c:val>
            <c:numRef>
              <c:f>Sheet1!$C$2:$C$6</c:f>
              <c:numCache>
                <c:ptCount val="5"/>
                <c:pt idx="0">
                  <c:v>-0.551</c:v>
                </c:pt>
                <c:pt idx="1">
                  <c:v>0.189</c:v>
                </c:pt>
                <c:pt idx="2">
                  <c:v>0.266</c:v>
                </c:pt>
                <c:pt idx="3">
                  <c:v>0.274</c:v>
                </c:pt>
                <c:pt idx="4">
                  <c:v>0.174</c:v>
                </c:pt>
              </c:numCache>
            </c:numRef>
          </c:val>
        </c:ser>
        <c:ser>
          <c:idx val="2"/>
          <c:order val="2"/>
          <c:tx>
            <c:strRef>
              <c:f>Sheet1!$D$1</c:f>
              <c:strCache>
                <c:ptCount val="1"/>
                <c:pt idx="0">
                  <c:v>2022</c:v>
                </c:pt>
              </c:strCache>
            </c:strRef>
          </c:tx>
          <c:spPr>
            <a:solidFill>
              <a:srgbClr val="BABABA"/>
            </a:solidFill>
            <a:ln>
              <a:solidFill>
                <a:srgbClr val="BABABA"/>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Middle East</c:v>
                </c:pt>
                <c:pt idx="2">
                  <c:v>Africa</c:v>
                </c:pt>
                <c:pt idx="3">
                  <c:v>Europe</c:v>
                </c:pt>
                <c:pt idx="4">
                  <c:v>Americas</c:v>
                </c:pt>
              </c:strCache>
            </c:strRef>
          </c:cat>
          <c:val>
            <c:numRef>
              <c:f>Sheet1!$D$2:$D$6</c:f>
              <c:numCache>
                <c:ptCount val="5"/>
                <c:pt idx="0">
                  <c:v>2.339</c:v>
                </c:pt>
                <c:pt idx="1">
                  <c:v>1.578</c:v>
                </c:pt>
                <c:pt idx="2">
                  <c:v>0.893</c:v>
                </c:pt>
                <c:pt idx="3">
                  <c:v>0.918</c:v>
                </c:pt>
                <c:pt idx="4">
                  <c:v>0.9</c:v>
                </c:pt>
              </c:numCache>
            </c:numRef>
          </c:val>
        </c:ser>
        <c:ser>
          <c:idx val="3"/>
          <c:order val="3"/>
          <c:tx>
            <c:strRef>
              <c:f>Sheet1!$E$1</c:f>
              <c:strCache>
                <c:ptCount val="1"/>
                <c:pt idx="0">
                  <c:v>2023</c:v>
                </c:pt>
              </c:strCache>
            </c:strRef>
          </c:tx>
          <c:spPr>
            <a:solidFill>
              <a:srgbClr val="A60B0B"/>
            </a:solidFill>
            <a:ln>
              <a:solidFill>
                <a:srgbClr val="A60B0B"/>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Middle East</c:v>
                </c:pt>
                <c:pt idx="2">
                  <c:v>Africa</c:v>
                </c:pt>
                <c:pt idx="3">
                  <c:v>Europe</c:v>
                </c:pt>
                <c:pt idx="4">
                  <c:v>Americas</c:v>
                </c:pt>
              </c:strCache>
            </c:strRef>
          </c:cat>
          <c:val>
            <c:numRef>
              <c:f>Sheet1!$E$2:$E$6</c:f>
              <c:numCache>
                <c:ptCount val="5"/>
                <c:pt idx="0">
                  <c:v>1.735</c:v>
                </c:pt>
                <c:pt idx="1">
                  <c:v>0.393</c:v>
                </c:pt>
                <c:pt idx="2">
                  <c:v>0.371</c:v>
                </c:pt>
                <c:pt idx="3">
                  <c:v>0.191</c:v>
                </c:pt>
                <c:pt idx="4">
                  <c:v>0.273</c:v>
                </c:pt>
              </c:numCache>
            </c:numRef>
          </c:val>
        </c:ser>
        <c:ser>
          <c:idx val="4"/>
          <c:order val="4"/>
          <c:tx>
            <c:strRef>
              <c:f>Sheet1!$F$1</c:f>
              <c:strCache>
                <c:ptCount val="1"/>
                <c:pt idx="0">
                  <c:v>2024</c:v>
                </c:pt>
              </c:strCache>
            </c:strRef>
          </c:tx>
          <c:spPr>
            <a:solidFill>
              <a:srgbClr val="87BC24"/>
            </a:solidFill>
            <a:ln>
              <a:solidFill>
                <a:srgbClr val="87BC24"/>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Middle East</c:v>
                </c:pt>
                <c:pt idx="2">
                  <c:v>Africa</c:v>
                </c:pt>
                <c:pt idx="3">
                  <c:v>Europe</c:v>
                </c:pt>
                <c:pt idx="4">
                  <c:v>Americas</c:v>
                </c:pt>
              </c:strCache>
            </c:strRef>
          </c:cat>
          <c:val>
            <c:numRef>
              <c:f>Sheet1!$F$2:$F$6</c:f>
              <c:numCache>
                <c:ptCount val="5"/>
                <c:pt idx="0">
                  <c:v>0.326</c:v>
                </c:pt>
                <c:pt idx="1">
                  <c:v>0.086</c:v>
                </c:pt>
                <c:pt idx="2">
                  <c:v>0.138</c:v>
                </c:pt>
                <c:pt idx="3">
                  <c:v>0.088</c:v>
                </c:pt>
                <c:pt idx="4">
                  <c:v>0.082</c:v>
                </c:pt>
              </c:numCache>
            </c:numRef>
          </c:val>
        </c:ser>
        <c:ser>
          <c:idx val="5"/>
          <c:order val="5"/>
          <c:tx>
            <c:strRef>
              <c:f>Sheet1!$G$1</c:f>
              <c:strCache>
                <c:ptCount val="1"/>
                <c:pt idx="0">
                  <c:v>2025</c:v>
                </c:pt>
              </c:strCache>
            </c:strRef>
          </c:tx>
          <c:spPr>
            <a:solidFill>
              <a:srgbClr val="EBB523"/>
            </a:solidFill>
            <a:ln>
              <a:solidFill>
                <a:srgbClr val="EBB523"/>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Middle East</c:v>
                </c:pt>
                <c:pt idx="2">
                  <c:v>Africa</c:v>
                </c:pt>
                <c:pt idx="3">
                  <c:v>Europe</c:v>
                </c:pt>
                <c:pt idx="4">
                  <c:v>Americas</c:v>
                </c:pt>
              </c:strCache>
            </c:strRef>
          </c:cat>
          <c:val>
            <c:numRef>
              <c:f>Sheet1!$G$2:$G$6</c:f>
              <c:numCache>
                <c:ptCount val="5"/>
                <c:pt idx="0">
                  <c:v>0.223</c:v>
                </c:pt>
                <c:pt idx="1">
                  <c:v>0.141</c:v>
                </c:pt>
                <c:pt idx="2">
                  <c:v>0.121</c:v>
                </c:pt>
                <c:pt idx="3">
                  <c:v>0.1</c:v>
                </c:pt>
                <c:pt idx="4">
                  <c:v>0.092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Year-over-year visitor growth</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2020</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Africa</c:v>
                </c:pt>
                <c:pt idx="2">
                  <c:v>Middle East</c:v>
                </c:pt>
                <c:pt idx="3">
                  <c:v>Europe</c:v>
                </c:pt>
                <c:pt idx="4">
                  <c:v>Americas</c:v>
                </c:pt>
              </c:strCache>
            </c:strRef>
          </c:cat>
          <c:val>
            <c:numRef>
              <c:f>Sheet1!$B$2:$B$6</c:f>
              <c:numCache>
                <c:ptCount val="5"/>
                <c:pt idx="0">
                  <c:v>-0.837</c:v>
                </c:pt>
                <c:pt idx="1">
                  <c:v>-0.704</c:v>
                </c:pt>
                <c:pt idx="2">
                  <c:v>-0.715</c:v>
                </c:pt>
                <c:pt idx="3">
                  <c:v>-0.669</c:v>
                </c:pt>
                <c:pt idx="4">
                  <c:v>-0.687</c:v>
                </c:pt>
              </c:numCache>
            </c:numRef>
          </c:val>
        </c:ser>
        <c:ser>
          <c:idx val="1"/>
          <c:order val="1"/>
          <c:tx>
            <c:strRef>
              <c:f>Sheet1!$C$1</c:f>
              <c:strCache>
                <c:ptCount val="1"/>
                <c:pt idx="0">
                  <c:v>2021</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Africa</c:v>
                </c:pt>
                <c:pt idx="2">
                  <c:v>Middle East</c:v>
                </c:pt>
                <c:pt idx="3">
                  <c:v>Europe</c:v>
                </c:pt>
                <c:pt idx="4">
                  <c:v>Americas</c:v>
                </c:pt>
              </c:strCache>
            </c:strRef>
          </c:cat>
          <c:val>
            <c:numRef>
              <c:f>Sheet1!$C$2:$C$6</c:f>
              <c:numCache>
                <c:ptCount val="5"/>
                <c:pt idx="0">
                  <c:v>-0.514</c:v>
                </c:pt>
                <c:pt idx="1">
                  <c:v>0.052</c:v>
                </c:pt>
                <c:pt idx="2">
                  <c:v>0.506</c:v>
                </c:pt>
                <c:pt idx="3">
                  <c:v>0.242</c:v>
                </c:pt>
                <c:pt idx="4">
                  <c:v>0.176</c:v>
                </c:pt>
              </c:numCache>
            </c:numRef>
          </c:val>
        </c:ser>
        <c:ser>
          <c:idx val="2"/>
          <c:order val="2"/>
          <c:tx>
            <c:strRef>
              <c:f>Sheet1!$D$1</c:f>
              <c:strCache>
                <c:ptCount val="1"/>
                <c:pt idx="0">
                  <c:v>2022</c:v>
                </c:pt>
              </c:strCache>
            </c:strRef>
          </c:tx>
          <c:spPr>
            <a:solidFill>
              <a:srgbClr val="BABABA"/>
            </a:solidFill>
            <a:ln>
              <a:solidFill>
                <a:srgbClr val="BABABA"/>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Africa</c:v>
                </c:pt>
                <c:pt idx="2">
                  <c:v>Middle East</c:v>
                </c:pt>
                <c:pt idx="3">
                  <c:v>Europe</c:v>
                </c:pt>
                <c:pt idx="4">
                  <c:v>Americas</c:v>
                </c:pt>
              </c:strCache>
            </c:strRef>
          </c:cat>
          <c:val>
            <c:numRef>
              <c:f>Sheet1!$D$2:$D$6</c:f>
              <c:numCache>
                <c:ptCount val="5"/>
                <c:pt idx="0">
                  <c:v>1.992</c:v>
                </c:pt>
                <c:pt idx="1">
                  <c:v>0.995</c:v>
                </c:pt>
                <c:pt idx="2">
                  <c:v>1.308</c:v>
                </c:pt>
                <c:pt idx="3">
                  <c:v>0.994</c:v>
                </c:pt>
                <c:pt idx="4">
                  <c:v>0.961</c:v>
                </c:pt>
              </c:numCache>
            </c:numRef>
          </c:val>
        </c:ser>
        <c:ser>
          <c:idx val="3"/>
          <c:order val="3"/>
          <c:tx>
            <c:strRef>
              <c:f>Sheet1!$E$1</c:f>
              <c:strCache>
                <c:ptCount val="1"/>
                <c:pt idx="0">
                  <c:v>2023</c:v>
                </c:pt>
              </c:strCache>
            </c:strRef>
          </c:tx>
          <c:spPr>
            <a:solidFill>
              <a:srgbClr val="A60B0B"/>
            </a:solidFill>
            <a:ln>
              <a:solidFill>
                <a:srgbClr val="A60B0B"/>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Africa</c:v>
                </c:pt>
                <c:pt idx="2">
                  <c:v>Middle East</c:v>
                </c:pt>
                <c:pt idx="3">
                  <c:v>Europe</c:v>
                </c:pt>
                <c:pt idx="4">
                  <c:v>Americas</c:v>
                </c:pt>
              </c:strCache>
            </c:strRef>
          </c:cat>
          <c:val>
            <c:numRef>
              <c:f>Sheet1!$E$2:$E$6</c:f>
              <c:numCache>
                <c:ptCount val="5"/>
                <c:pt idx="0">
                  <c:v>1.779</c:v>
                </c:pt>
                <c:pt idx="1">
                  <c:v>0.418</c:v>
                </c:pt>
                <c:pt idx="2">
                  <c:v>0.293</c:v>
                </c:pt>
                <c:pt idx="3">
                  <c:v>0.202</c:v>
                </c:pt>
                <c:pt idx="4">
                  <c:v>0.325</c:v>
                </c:pt>
              </c:numCache>
            </c:numRef>
          </c:val>
        </c:ser>
        <c:ser>
          <c:idx val="4"/>
          <c:order val="4"/>
          <c:tx>
            <c:strRef>
              <c:f>Sheet1!$F$1</c:f>
              <c:strCache>
                <c:ptCount val="1"/>
                <c:pt idx="0">
                  <c:v>2024</c:v>
                </c:pt>
              </c:strCache>
            </c:strRef>
          </c:tx>
          <c:spPr>
            <a:solidFill>
              <a:srgbClr val="87BC24"/>
            </a:solidFill>
            <a:ln>
              <a:solidFill>
                <a:srgbClr val="87BC24"/>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Africa</c:v>
                </c:pt>
                <c:pt idx="2">
                  <c:v>Middle East</c:v>
                </c:pt>
                <c:pt idx="3">
                  <c:v>Europe</c:v>
                </c:pt>
                <c:pt idx="4">
                  <c:v>Americas</c:v>
                </c:pt>
              </c:strCache>
            </c:strRef>
          </c:cat>
          <c:val>
            <c:numRef>
              <c:f>Sheet1!$F$2:$F$6</c:f>
              <c:numCache>
                <c:ptCount val="5"/>
                <c:pt idx="0">
                  <c:v>0.346</c:v>
                </c:pt>
                <c:pt idx="1">
                  <c:v>0.151</c:v>
                </c:pt>
                <c:pt idx="2">
                  <c:v>0.033</c:v>
                </c:pt>
                <c:pt idx="3">
                  <c:v>0.093</c:v>
                </c:pt>
                <c:pt idx="4">
                  <c:v>0.091</c:v>
                </c:pt>
              </c:numCache>
            </c:numRef>
          </c:val>
        </c:ser>
        <c:ser>
          <c:idx val="5"/>
          <c:order val="5"/>
          <c:tx>
            <c:strRef>
              <c:f>Sheet1!$G$1</c:f>
              <c:strCache>
                <c:ptCount val="1"/>
                <c:pt idx="0">
                  <c:v>2025</c:v>
                </c:pt>
              </c:strCache>
            </c:strRef>
          </c:tx>
          <c:spPr>
            <a:solidFill>
              <a:srgbClr val="EBB523"/>
            </a:solidFill>
            <a:ln>
              <a:solidFill>
                <a:srgbClr val="EBB523"/>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Asia-Pacific</c:v>
                </c:pt>
                <c:pt idx="1">
                  <c:v>Africa</c:v>
                </c:pt>
                <c:pt idx="2">
                  <c:v>Middle East</c:v>
                </c:pt>
                <c:pt idx="3">
                  <c:v>Europe</c:v>
                </c:pt>
                <c:pt idx="4">
                  <c:v>Americas</c:v>
                </c:pt>
              </c:strCache>
            </c:strRef>
          </c:cat>
          <c:val>
            <c:numRef>
              <c:f>Sheet1!$G$2:$G$6</c:f>
              <c:numCache>
                <c:ptCount val="5"/>
                <c:pt idx="0">
                  <c:v>0.226</c:v>
                </c:pt>
                <c:pt idx="1">
                  <c:v>0.145</c:v>
                </c:pt>
                <c:pt idx="2">
                  <c:v>0.135</c:v>
                </c:pt>
                <c:pt idx="3">
                  <c:v>0.107</c:v>
                </c:pt>
                <c:pt idx="4">
                  <c:v>0.087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Year-over-year visitor growth</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37415A0F-6D7E-49C9-94B3-FA71E67DD8A1}"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E52C62B6-98CF-4C80-9764-BAEE1FD80BE9}"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D521EBDB-192F-44F3-9603-D8B80FF3F566}"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37FC0879-68CF-49E2-9185-A9EF707280C8}"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8AC4CA0E-D785-47B4-A3BC-2A4D90EC6BF4}"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3DDB5167-6A63-426A-95C5-487018894B5E}"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2D7E5A23-2A3C-4462-9201-D14EC4D77033}"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2541D544-A489-4F43-9BC1-E61BDF76B9B4}"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801B9DEC-A63C-48A2-B451-BA891DAAEEE3}"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D1FF53B2-615F-430F-8FCE-AF6FD4B95C9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41F53AED-6FD1-469B-9B0D-9615A5406BED}"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emf" /><Relationship Id="rId3" Type="http://schemas.openxmlformats.org/officeDocument/2006/relationships/image" Target="../media/image2.emf"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10.xml" TargetMode="Internal" /><Relationship Id="rId11" Type="http://schemas.openxmlformats.org/officeDocument/2006/relationships/slide" Target="slide11.xml" TargetMode="Internal" /><Relationship Id="rId12" Type="http://schemas.openxmlformats.org/officeDocument/2006/relationships/slide" Target="slide12.xml" TargetMode="Internal" /><Relationship Id="rId13" Type="http://schemas.openxmlformats.org/officeDocument/2006/relationships/slide" Target="slide14.xml" TargetMode="Internal" /><Relationship Id="rId14" Type="http://schemas.openxmlformats.org/officeDocument/2006/relationships/slide" Target="slide15.xml" TargetMode="Internal" /><Relationship Id="rId15" Type="http://schemas.openxmlformats.org/officeDocument/2006/relationships/slide" Target="slide16.xml" TargetMode="Internal" /><Relationship Id="rId16" Type="http://schemas.openxmlformats.org/officeDocument/2006/relationships/slide" Target="slide17.xml" TargetMode="Internal" /><Relationship Id="rId17" Type="http://schemas.openxmlformats.org/officeDocument/2006/relationships/slide" Target="slide18.xml" TargetMode="Internal" /><Relationship Id="rId18" Type="http://schemas.openxmlformats.org/officeDocument/2006/relationships/slide" Target="slide19.xml" TargetMode="Internal" /><Relationship Id="rId19" Type="http://schemas.openxmlformats.org/officeDocument/2006/relationships/slide" Target="slide21.xml" TargetMode="Internal" /><Relationship Id="rId2" Type="http://schemas.openxmlformats.org/officeDocument/2006/relationships/image" Target="../media/image3.emf" /><Relationship Id="rId20" Type="http://schemas.openxmlformats.org/officeDocument/2006/relationships/slide" Target="slide22.xml" TargetMode="Internal" /><Relationship Id="rId21" Type="http://schemas.openxmlformats.org/officeDocument/2006/relationships/slide" Target="slide23.xml" TargetMode="Internal" /><Relationship Id="rId22" Type="http://schemas.openxmlformats.org/officeDocument/2006/relationships/slide" Target="slide24.xml" TargetMode="Internal" /><Relationship Id="rId23" Type="http://schemas.openxmlformats.org/officeDocument/2006/relationships/slide" Target="slide25.xml" TargetMode="Internal" /><Relationship Id="rId24" Type="http://schemas.openxmlformats.org/officeDocument/2006/relationships/slide" Target="slide26.xml" TargetMode="Internal" /><Relationship Id="rId25" Type="http://schemas.openxmlformats.org/officeDocument/2006/relationships/slide" Target="slide27.xml" TargetMode="Internal" /><Relationship Id="rId26" Type="http://schemas.openxmlformats.org/officeDocument/2006/relationships/slide" Target="slide29.xml" TargetMode="Internal" /><Relationship Id="rId27" Type="http://schemas.openxmlformats.org/officeDocument/2006/relationships/slide" Target="slide30.xml" TargetMode="Internal" /><Relationship Id="rId28" Type="http://schemas.openxmlformats.org/officeDocument/2006/relationships/slide" Target="slide31.xml" TargetMode="Internal" /><Relationship Id="rId29" Type="http://schemas.openxmlformats.org/officeDocument/2006/relationships/slide" Target="slide32.xml" TargetMode="Internal" /><Relationship Id="rId3" Type="http://schemas.openxmlformats.org/officeDocument/2006/relationships/image" Target="../media/image4.emf" /><Relationship Id="rId30" Type="http://schemas.openxmlformats.org/officeDocument/2006/relationships/slide" Target="slide34.xml" TargetMode="Internal" /><Relationship Id="rId31" Type="http://schemas.openxmlformats.org/officeDocument/2006/relationships/slide" Target="slide35.xml" TargetMode="Internal" /><Relationship Id="rId32" Type="http://schemas.openxmlformats.org/officeDocument/2006/relationships/slide" Target="slide36.xml" TargetMode="Internal" /><Relationship Id="rId33" Type="http://schemas.openxmlformats.org/officeDocument/2006/relationships/slide" Target="slide37.xml" TargetMode="Internal" /><Relationship Id="rId34" Type="http://schemas.openxmlformats.org/officeDocument/2006/relationships/slide" Target="slide38.xml" TargetMode="Internal" /><Relationship Id="rId35" Type="http://schemas.openxmlformats.org/officeDocument/2006/relationships/slide" Target="slide39.xml" TargetMode="Internal" /><Relationship Id="rId4" Type="http://schemas.openxmlformats.org/officeDocument/2006/relationships/image" Target="../media/image5.emf" /><Relationship Id="rId5" Type="http://schemas.openxmlformats.org/officeDocument/2006/relationships/slide" Target="slide5.xml" TargetMode="Internal" /><Relationship Id="rId6" Type="http://schemas.openxmlformats.org/officeDocument/2006/relationships/slide" Target="slide6.xml" TargetMode="Internal" /><Relationship Id="rId7" Type="http://schemas.openxmlformats.org/officeDocument/2006/relationships/slide" Target="slide7.xml" TargetMode="Internal" /><Relationship Id="rId8" Type="http://schemas.openxmlformats.org/officeDocument/2006/relationships/slide" Target="slide8.xml" TargetMode="Internal" /><Relationship Id="rId9" Type="http://schemas.openxmlformats.org/officeDocument/2006/relationships/slide" Target="slide9.xml" TargetMode="In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46.xml" TargetMode="Internal" /><Relationship Id="rId11" Type="http://schemas.openxmlformats.org/officeDocument/2006/relationships/slide" Target="slide48.xml" TargetMode="Internal" /><Relationship Id="rId12" Type="http://schemas.openxmlformats.org/officeDocument/2006/relationships/slide" Target="slide49.xml" TargetMode="Internal" /><Relationship Id="rId13" Type="http://schemas.openxmlformats.org/officeDocument/2006/relationships/slide" Target="slide50.xml" TargetMode="Internal" /><Relationship Id="rId14" Type="http://schemas.openxmlformats.org/officeDocument/2006/relationships/slide" Target="slide51.xml" TargetMode="Interna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slide" Target="slide41.xml" TargetMode="Internal" /><Relationship Id="rId6" Type="http://schemas.openxmlformats.org/officeDocument/2006/relationships/slide" Target="slide42.xml" TargetMode="Internal" /><Relationship Id="rId7" Type="http://schemas.openxmlformats.org/officeDocument/2006/relationships/slide" Target="slide43.xml" TargetMode="Internal" /><Relationship Id="rId8" Type="http://schemas.openxmlformats.org/officeDocument/2006/relationships/slide" Target="slide44.xml" TargetMode="Internal" /><Relationship Id="rId9" Type="http://schemas.openxmlformats.org/officeDocument/2006/relationships/slide" Target="slide45.xml" TargetMode="Interna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33223/travel-and-tourism-total-economic-contribution-worldwide" TargetMode="External" /><Relationship Id="rId6" Type="http://schemas.openxmlformats.org/officeDocument/2006/relationships/chart" Target="../charts/char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9933/travel-and-tourism-share-of-gdp" TargetMode="External" /><Relationship Id="rId6" Type="http://schemas.openxmlformats.org/officeDocument/2006/relationships/chart" Target="../charts/chart2.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92479/total-contribution-of-travel-and-tourism-to-gdp-in-selected-countries" TargetMode="External" /><Relationship Id="rId6" Type="http://schemas.openxmlformats.org/officeDocument/2006/relationships/chart" Target="../charts/chart3.xml" /><Relationship Id="rId7" Type="http://schemas.openxmlformats.org/officeDocument/2006/relationships/image" Target="../media/image7.png" /><Relationship Id="rId8" Type="http://schemas.openxmlformats.org/officeDocument/2006/relationships/oleObject" Target="../embeddings/oleObject4.bin" TargetMode="Internal" /><Relationship Id="rId9" Type="http://schemas.openxmlformats.org/officeDocument/2006/relationships/image" Target="../media/image8.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3335/leisure-travel-spending-worldwide" TargetMode="External" /><Relationship Id="rId6" Type="http://schemas.openxmlformats.org/officeDocument/2006/relationships/chart" Target="../charts/chart4.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3295/business-travel-spending-worldwide" TargetMode="External" /><Relationship Id="rId6" Type="http://schemas.openxmlformats.org/officeDocument/2006/relationships/chart" Target="../charts/chart5.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09334/total-number-of-international-tourist-arrivals" TargetMode="External" /><Relationship Id="rId6" Type="http://schemas.openxmlformats.org/officeDocument/2006/relationships/chart" Target="../charts/chart6.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86743/international-tourist-arrivals-worldwide-by-region-since-2010" TargetMode="External" /><Relationship Id="rId6" Type="http://schemas.openxmlformats.org/officeDocument/2006/relationships/chart" Target="../charts/char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68465/number-of-travel-and-tourism-jobs-worldwide" TargetMode="External" /><Relationship Id="rId6" Type="http://schemas.openxmlformats.org/officeDocument/2006/relationships/chart" Target="../charts/chart8.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86201/hotel-and-resort-industry-market-size-global" TargetMode="External" /><Relationship Id="rId6" Type="http://schemas.openxmlformats.org/officeDocument/2006/relationships/chart" Target="../charts/chart9.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32907/most-valuable-hotel-brands-worldwide" TargetMode="External" /><Relationship Id="rId6" Type="http://schemas.openxmlformats.org/officeDocument/2006/relationships/chart" Target="../charts/chart10.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97869/us-hotel-companies-by-number-of-properties-worldwide" TargetMode="External" /><Relationship Id="rId6" Type="http://schemas.openxmlformats.org/officeDocument/2006/relationships/chart" Target="../charts/chart11.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3913/new-hotel-count-worldwide" TargetMode="External" /><Relationship Id="rId6" Type="http://schemas.openxmlformats.org/officeDocument/2006/relationships/chart" Target="../charts/chart12.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3926/new-hotel-room-count-worldwide" TargetMode="External" /><Relationship Id="rId6" Type="http://schemas.openxmlformats.org/officeDocument/2006/relationships/chart" Target="../charts/chart13.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26417/countries-with-the-highest-number-of-projects-in-the-construction-pipeline-worldwide" TargetMode="External" /><Relationship Id="rId6" Type="http://schemas.openxmlformats.org/officeDocument/2006/relationships/chart" Target="../charts/chart14.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68067/leading-airports-worldwide-for-international-air-passenger-traffic" TargetMode="External" /><Relationship Id="rId6" Type="http://schemas.openxmlformats.org/officeDocument/2006/relationships/chart" Target="../charts/chart15.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5948/market-capitalization-of-selected-airlines" TargetMode="External" /><Relationship Id="rId6" Type="http://schemas.openxmlformats.org/officeDocument/2006/relationships/chart" Target="../charts/chart16.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13730/global-passenger-rail-users-forecast" TargetMode="External" /><Relationship Id="rId6" Type="http://schemas.openxmlformats.org/officeDocument/2006/relationships/chart" Target="../charts/chart1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61227/bus-rapid-transit-networks-worldwide-by-region-daily-ridership" TargetMode="External" /><Relationship Id="rId6" Type="http://schemas.openxmlformats.org/officeDocument/2006/relationships/chart" Target="../charts/chart18.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891429/number-of-users-in-the-car-rentals-market-worldwide" TargetMode="External" /><Relationship Id="rId6" Type="http://schemas.openxmlformats.org/officeDocument/2006/relationships/chart" Target="../charts/chart19.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18812/number-of-users-in-selected-countries-in-the-car-rentals-market" TargetMode="External" /><Relationship Id="rId6" Type="http://schemas.openxmlformats.org/officeDocument/2006/relationships/chart" Target="../charts/chart20.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22838/carbon-footprint-of-international-tourism-transport-worldwide" TargetMode="External" /><Relationship Id="rId6" Type="http://schemas.openxmlformats.org/officeDocument/2006/relationships/chart" Target="../charts/chart21.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01072/museums-by-total-attendance-worldwide" TargetMode="External" /><Relationship Id="rId6" Type="http://schemas.openxmlformats.org/officeDocument/2006/relationships/image" Target="../media/image7.png" /><Relationship Id="rId7" Type="http://schemas.openxmlformats.org/officeDocument/2006/relationships/oleObject" Target="../embeddings/oleObject23.bin" TargetMode="Internal" /><Relationship Id="rId8" Type="http://schemas.openxmlformats.org/officeDocument/2006/relationships/image" Target="../media/image8.png" /><Relationship Id="rId9" Type="http://schemas.openxmlformats.org/officeDocument/2006/relationships/image" Target="../media/image9.pn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94247/worldwide-attendance-at-theme-and-amusement-parks" TargetMode="External" /><Relationship Id="rId6" Type="http://schemas.openxmlformats.org/officeDocument/2006/relationships/chart" Target="../charts/chart22.xml" /><Relationship Id="rId7" Type="http://schemas.openxmlformats.org/officeDocument/2006/relationships/image" Target="../media/image7.png" /><Relationship Id="rId8" Type="http://schemas.openxmlformats.org/officeDocument/2006/relationships/oleObject" Target="../embeddings/oleObject25.bin" TargetMode="Internal" /><Relationship Id="rId9" Type="http://schemas.openxmlformats.org/officeDocument/2006/relationships/image" Target="../media/image8.png"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4520/monuments-on-the-unesco-world-heritage-list-by-type" TargetMode="External" /><Relationship Id="rId6" Type="http://schemas.openxmlformats.org/officeDocument/2006/relationships/chart" Target="../charts/chart23.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4.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00971/countries-most-michelin-starred-restaurants-worldwide" TargetMode="External" /><Relationship Id="rId6" Type="http://schemas.openxmlformats.org/officeDocument/2006/relationships/chart" Target="../charts/chart24.xml" /><Relationship Id="rId7" Type="http://schemas.openxmlformats.org/officeDocument/2006/relationships/image" Target="../media/image7.png" /><Relationship Id="rId8" Type="http://schemas.openxmlformats.org/officeDocument/2006/relationships/oleObject" Target="../embeddings/oleObject28.bin" TargetMode="Internal" /><Relationship Id="rId9" Type="http://schemas.openxmlformats.org/officeDocument/2006/relationships/image" Target="../media/image8.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79020/online-travel-agent-market-size-worldwide" TargetMode="External" /><Relationship Id="rId6" Type="http://schemas.openxmlformats.org/officeDocument/2006/relationships/chart" Target="../charts/chart25.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72169/revenue-by-device-leading-online-travel-agencies-worldwide" TargetMode="External" /><Relationship Id="rId6" Type="http://schemas.openxmlformats.org/officeDocument/2006/relationships/chart" Target="../charts/chart26.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5.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29193/most-downloaded-online-travel-agency-apps-globally" TargetMode="External" /><Relationship Id="rId6" Type="http://schemas.openxmlformats.org/officeDocument/2006/relationships/chart" Target="../charts/chart27.xml" /><Relationship Id="rId7" Type="http://schemas.openxmlformats.org/officeDocument/2006/relationships/image" Target="../media/image7.png" /><Relationship Id="rId8" Type="http://schemas.openxmlformats.org/officeDocument/2006/relationships/oleObject" Target="../embeddings/oleObject32.bin" TargetMode="Internal" /><Relationship Id="rId9" Type="http://schemas.openxmlformats.org/officeDocument/2006/relationships/image" Target="../media/image8.png"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6.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616/leading-online-travel-companies-by-market-cap" TargetMode="External" /><Relationship Id="rId6" Type="http://schemas.openxmlformats.org/officeDocument/2006/relationships/chart" Target="../charts/chart28.xml" /><Relationship Id="rId7" Type="http://schemas.openxmlformats.org/officeDocument/2006/relationships/image" Target="../media/image7.png" /><Relationship Id="rId8" Type="http://schemas.openxmlformats.org/officeDocument/2006/relationships/oleObject" Target="../embeddings/oleObject34.bin" TargetMode="Internal" /><Relationship Id="rId9" Type="http://schemas.openxmlformats.org/officeDocument/2006/relationships/image" Target="../media/image8.pn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631/leading-online-travel-companies-by-cagr" TargetMode="Externa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627/leading-online-travel-companies-ev-ebitda" TargetMode="Externa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63771/leading-travel-tech-investments-worldwide" TargetMode="External" /><Relationship Id="rId6" Type="http://schemas.openxmlformats.org/officeDocument/2006/relationships/chart" Target="../charts/chart29.x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21734/mobile-travel-planning-with-ai-chatbot-worldwide-by-country" TargetMode="External" /><Relationship Id="rId6" Type="http://schemas.openxmlformats.org/officeDocument/2006/relationships/chart" Target="../charts/chart30.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26996/traveler-attitudes-sustainability" TargetMode="External" /><Relationship Id="rId6" Type="http://schemas.openxmlformats.org/officeDocument/2006/relationships/chart" Target="../charts/chart31.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48736/factors-for-eco-friendly-travel" TargetMode="External" /><Relationship Id="rId6" Type="http://schemas.openxmlformats.org/officeDocument/2006/relationships/chart" Target="../charts/chart32.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93134/airbnb-revenue-worldwide" TargetMode="External" /><Relationship Id="rId6" Type="http://schemas.openxmlformats.org/officeDocument/2006/relationships/chart" Target="../charts/chart33.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93532/airbnb-nights-experiences-booked-worldwide" TargetMode="External" /><Relationship Id="rId6" Type="http://schemas.openxmlformats.org/officeDocument/2006/relationships/chart" Target="../charts/chart34.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38973/revenue-in-the-travel-and-tourism-market-worldwide" TargetMode="External" /><Relationship Id="rId6" Type="http://schemas.openxmlformats.org/officeDocument/2006/relationships/chart" Target="../charts/chart35.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39068/sales-channels-travel-tourism-worldwide" TargetMode="External" /><Relationship Id="rId6" Type="http://schemas.openxmlformats.org/officeDocument/2006/relationships/chart" Target="../charts/chart36.x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4010/inbound-visitor-growth-forecast-worldwide-by-region" TargetMode="External" /><Relationship Id="rId6" Type="http://schemas.openxmlformats.org/officeDocument/2006/relationships/chart" Target="../charts/chart37.x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4011/outbound-visitor-growth-forecast-worldwide-by-region" TargetMode="External" /><Relationship Id="rId6" Type="http://schemas.openxmlformats.org/officeDocument/2006/relationships/chart" Target="../charts/chart38.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5" name="New shape" titl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INDUSTRIES &amp; MARKETS</a:t>
            </a:r>
          </a:p>
        </p:txBody>
      </p:sp>
      <p:sp>
        <p:nvSpPr>
          <p:cNvPr id="3"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Tourism worldwide</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titl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Overview</a:t>
            </a:r>
          </a:p>
        </p:txBody>
      </p:sp>
      <p:sp>
        <p:nvSpPr>
          <p:cNvPr id="8" name="New shape" titl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04</a:t>
            </a:r>
          </a:p>
        </p:txBody>
      </p:sp>
      <p:sp>
        <p:nvSpPr>
          <p:cNvPr id="9" name="New shape" titl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Total contribution of travel and tourism to GDP worldwide 2019-2034</a:t>
            </a:r>
          </a:p>
        </p:txBody>
      </p:sp>
      <p:sp>
        <p:nvSpPr>
          <p:cNvPr id="10" name="New shape" titl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05</a:t>
            </a:r>
          </a:p>
        </p:txBody>
      </p:sp>
      <p:sp>
        <p:nvSpPr>
          <p:cNvPr id="11" name="New shape" titl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Travel and tourism: share of global GDP 2019-2034</a:t>
            </a:r>
          </a:p>
        </p:txBody>
      </p:sp>
      <p:sp>
        <p:nvSpPr>
          <p:cNvPr id="12" name="New shape" titl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06</a:t>
            </a:r>
          </a:p>
        </p:txBody>
      </p:sp>
      <p:sp>
        <p:nvSpPr>
          <p:cNvPr id="13" name="New shape" titl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global travel markets by travel and tourism contribution to GDP 2019-2023</a:t>
            </a:r>
          </a:p>
        </p:txBody>
      </p:sp>
      <p:sp>
        <p:nvSpPr>
          <p:cNvPr id="14" name="New shape" titl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07</a:t>
            </a:r>
          </a:p>
        </p:txBody>
      </p:sp>
      <p:sp>
        <p:nvSpPr>
          <p:cNvPr id="15" name="New shape" titl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leisure travel spend 2019-2023</a:t>
            </a:r>
          </a:p>
        </p:txBody>
      </p:sp>
      <p:sp>
        <p:nvSpPr>
          <p:cNvPr id="16" name="New shape" title=""/>
          <p:cNvSpPr/>
          <p:nvPr/>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08</a:t>
            </a:r>
          </a:p>
        </p:txBody>
      </p:sp>
      <p:sp>
        <p:nvSpPr>
          <p:cNvPr id="17" name="New shape" title=""/>
          <p:cNvSpPr/>
          <p:nvPr/>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business travel spending 2001-2024</a:t>
            </a:r>
          </a:p>
        </p:txBody>
      </p:sp>
      <p:sp>
        <p:nvSpPr>
          <p:cNvPr id="18" name="New shape" title=""/>
          <p:cNvSpPr/>
          <p:nvPr/>
        </p:nvSpPr>
        <p:spPr>
          <a:xfrm>
            <a:off x="5544000" y="2967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09</a:t>
            </a:r>
          </a:p>
        </p:txBody>
      </p:sp>
      <p:sp>
        <p:nvSpPr>
          <p:cNvPr id="19" name="New shape" title=""/>
          <p:cNvSpPr/>
          <p:nvPr/>
        </p:nvSpPr>
        <p:spPr>
          <a:xfrm>
            <a:off x="586800" y="2967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international tourist arrivals worldwide 1950-2024</a:t>
            </a:r>
          </a:p>
        </p:txBody>
      </p:sp>
      <p:sp>
        <p:nvSpPr>
          <p:cNvPr id="20" name="New shape" title=""/>
          <p:cNvSpPr/>
          <p:nvPr/>
        </p:nvSpPr>
        <p:spPr>
          <a:xfrm>
            <a:off x="5544000" y="3137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10</a:t>
            </a:r>
          </a:p>
        </p:txBody>
      </p:sp>
      <p:sp>
        <p:nvSpPr>
          <p:cNvPr id="21" name="New shape" title=""/>
          <p:cNvSpPr/>
          <p:nvPr/>
        </p:nvSpPr>
        <p:spPr>
          <a:xfrm>
            <a:off x="586800" y="3137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international tourist arrivals worldwide 2005-2024, by region</a:t>
            </a:r>
          </a:p>
        </p:txBody>
      </p:sp>
      <p:sp>
        <p:nvSpPr>
          <p:cNvPr id="22" name="New shape" title=""/>
          <p:cNvSpPr/>
          <p:nvPr/>
        </p:nvSpPr>
        <p:spPr>
          <a:xfrm>
            <a:off x="5544000" y="3308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11</a:t>
            </a:r>
          </a:p>
        </p:txBody>
      </p:sp>
      <p:sp>
        <p:nvSpPr>
          <p:cNvPr id="23" name="New shape" title=""/>
          <p:cNvSpPr/>
          <p:nvPr/>
        </p:nvSpPr>
        <p:spPr>
          <a:xfrm>
            <a:off x="586800" y="3308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Travel and tourism employment worldwide 2019-2034</a:t>
            </a:r>
          </a:p>
        </p:txBody>
      </p:sp>
      <p:sp>
        <p:nvSpPr>
          <p:cNvPr id="24" name="New shape" title=""/>
          <p:cNvSpPr/>
          <p:nvPr/>
        </p:nvSpPr>
        <p:spPr>
          <a:xfrm>
            <a:off x="586800" y="3605467"/>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Hotels</a:t>
            </a:r>
          </a:p>
        </p:txBody>
      </p:sp>
      <p:sp>
        <p:nvSpPr>
          <p:cNvPr id="25" name="New shape" title=""/>
          <p:cNvSpPr/>
          <p:nvPr/>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13</a:t>
            </a:r>
          </a:p>
        </p:txBody>
      </p:sp>
      <p:sp>
        <p:nvSpPr>
          <p:cNvPr id="26" name="New shape" title=""/>
          <p:cNvSpPr/>
          <p:nvPr/>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hotel and resort industry market size worldwide 2022-2023</a:t>
            </a:r>
          </a:p>
        </p:txBody>
      </p:sp>
      <p:sp>
        <p:nvSpPr>
          <p:cNvPr id="27" name="New shape" title=""/>
          <p:cNvSpPr/>
          <p:nvPr/>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14</a:t>
            </a:r>
          </a:p>
        </p:txBody>
      </p:sp>
      <p:sp>
        <p:nvSpPr>
          <p:cNvPr id="28" name="New shape" title=""/>
          <p:cNvSpPr/>
          <p:nvPr/>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valuable hotel brands worldwide 2023, by brand value</a:t>
            </a:r>
          </a:p>
        </p:txBody>
      </p:sp>
      <p:sp>
        <p:nvSpPr>
          <p:cNvPr id="29" name="New shape" title=""/>
          <p:cNvSpPr/>
          <p:nvPr/>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15</a:t>
            </a:r>
          </a:p>
        </p:txBody>
      </p:sp>
      <p:sp>
        <p:nvSpPr>
          <p:cNvPr id="30" name="New shape" title=""/>
          <p:cNvSpPr/>
          <p:nvPr/>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hotel companies worldwide 2023, by number of properties</a:t>
            </a:r>
          </a:p>
        </p:txBody>
      </p:sp>
      <p:sp>
        <p:nvSpPr>
          <p:cNvPr id="31" name="New shape" title=""/>
          <p:cNvSpPr/>
          <p:nvPr/>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16</a:t>
            </a:r>
          </a:p>
        </p:txBody>
      </p:sp>
      <p:sp>
        <p:nvSpPr>
          <p:cNvPr id="32" name="New shape" title=""/>
          <p:cNvSpPr/>
          <p:nvPr/>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hotels in the construction pipeline worldwide 2024</a:t>
            </a:r>
          </a:p>
        </p:txBody>
      </p:sp>
      <p:sp>
        <p:nvSpPr>
          <p:cNvPr id="33" name="New shape" title=""/>
          <p:cNvSpPr/>
          <p:nvPr/>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17</a:t>
            </a:r>
          </a:p>
        </p:txBody>
      </p:sp>
      <p:sp>
        <p:nvSpPr>
          <p:cNvPr id="34" name="New shape" title=""/>
          <p:cNvSpPr/>
          <p:nvPr/>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hotel rooms in the construction pipeline worldwide 2024</a:t>
            </a:r>
          </a:p>
        </p:txBody>
      </p:sp>
      <p:sp>
        <p:nvSpPr>
          <p:cNvPr id="35" name="New shape" title=""/>
          <p:cNvSpPr/>
          <p:nvPr/>
        </p:nvSpPr>
        <p:spPr>
          <a:xfrm>
            <a:off x="5544000" y="4690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18</a:t>
            </a:r>
          </a:p>
        </p:txBody>
      </p:sp>
      <p:sp>
        <p:nvSpPr>
          <p:cNvPr id="36" name="New shape" title=""/>
          <p:cNvSpPr/>
          <p:nvPr/>
        </p:nvSpPr>
        <p:spPr>
          <a:xfrm>
            <a:off x="586800" y="4690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the most hotel construction projects in the pipeline worldwide 2024</a:t>
            </a:r>
          </a:p>
        </p:txBody>
      </p:sp>
      <p:sp>
        <p:nvSpPr>
          <p:cNvPr id="37" name="New shape" title=""/>
          <p:cNvSpPr/>
          <p:nvPr/>
        </p:nvSpPr>
        <p:spPr>
          <a:xfrm>
            <a:off x="586800" y="498757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Transport</a:t>
            </a:r>
          </a:p>
        </p:txBody>
      </p:sp>
      <p:sp>
        <p:nvSpPr>
          <p:cNvPr id="38" name="New shape" title=""/>
          <p:cNvSpPr/>
          <p:nvPr/>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20</a:t>
            </a:r>
          </a:p>
        </p:txBody>
      </p:sp>
      <p:sp>
        <p:nvSpPr>
          <p:cNvPr id="39" name="New shape" title=""/>
          <p:cNvSpPr/>
          <p:nvPr/>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Airports with the most international air passenger traffic worldwide 2023</a:t>
            </a:r>
          </a:p>
        </p:txBody>
      </p:sp>
      <p:sp>
        <p:nvSpPr>
          <p:cNvPr id="40" name="New shape" titl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21</a:t>
            </a:r>
          </a:p>
        </p:txBody>
      </p:sp>
      <p:sp>
        <p:nvSpPr>
          <p:cNvPr id="41" name="New shape" titl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Market value of selected airlines worldwide 2024</a:t>
            </a:r>
          </a:p>
        </p:txBody>
      </p:sp>
      <p:sp>
        <p:nvSpPr>
          <p:cNvPr id="42"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22</a:t>
            </a:r>
          </a:p>
        </p:txBody>
      </p:sp>
      <p:sp>
        <p:nvSpPr>
          <p:cNvPr id="43"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passenger rail users forecast 2017-2028</a:t>
            </a:r>
          </a:p>
        </p:txBody>
      </p:sp>
      <p:sp>
        <p:nvSpPr>
          <p:cNvPr id="44"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23</a:t>
            </a:r>
          </a:p>
        </p:txBody>
      </p:sp>
      <p:sp>
        <p:nvSpPr>
          <p:cNvPr id="45"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Daily ridership of bus rapid transit systems worldwide by region 2024</a:t>
            </a:r>
          </a:p>
        </p:txBody>
      </p:sp>
      <p:sp>
        <p:nvSpPr>
          <p:cNvPr id="46"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24</a:t>
            </a:r>
          </a:p>
        </p:txBody>
      </p:sp>
      <p:sp>
        <p:nvSpPr>
          <p:cNvPr id="47"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users of car rentals worldwide 2020-2029</a:t>
            </a:r>
          </a:p>
        </p:txBody>
      </p:sp>
      <p:sp>
        <p:nvSpPr>
          <p:cNvPr id="48" name="New shape" titl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25</a:t>
            </a:r>
          </a:p>
        </p:txBody>
      </p:sp>
      <p:sp>
        <p:nvSpPr>
          <p:cNvPr id="49" name="New shape" titl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users in selected countries in the Car Rentals market in 2023</a:t>
            </a:r>
          </a:p>
        </p:txBody>
      </p:sp>
      <p:sp>
        <p:nvSpPr>
          <p:cNvPr id="50" name="New shape" title=""/>
          <p:cNvSpPr/>
          <p:nvPr/>
        </p:nvSpPr>
        <p:spPr>
          <a:xfrm>
            <a:off x="109152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26</a:t>
            </a:r>
          </a:p>
        </p:txBody>
      </p:sp>
      <p:sp>
        <p:nvSpPr>
          <p:cNvPr id="51" name="New shape" title=""/>
          <p:cNvSpPr/>
          <p:nvPr/>
        </p:nvSpPr>
        <p:spPr>
          <a:xfrm>
            <a:off x="59580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Carbon footprint of international tourism transport worldwide 2005-2030, by type</a:t>
            </a:r>
          </a:p>
        </p:txBody>
      </p:sp>
      <p:sp>
        <p:nvSpPr>
          <p:cNvPr id="52" name="New shape" title=""/>
          <p:cNvSpPr/>
          <p:nvPr/>
        </p:nvSpPr>
        <p:spPr>
          <a:xfrm>
            <a:off x="5958000" y="286119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Attractions</a:t>
            </a:r>
          </a:p>
        </p:txBody>
      </p:sp>
      <p:sp>
        <p:nvSpPr>
          <p:cNvPr id="53" name="New shape" titl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28</a:t>
            </a:r>
          </a:p>
        </p:txBody>
      </p:sp>
      <p:sp>
        <p:nvSpPr>
          <p:cNvPr id="54" name="New shape" titl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visited museums worldwide 2019-2023</a:t>
            </a:r>
          </a:p>
        </p:txBody>
      </p:sp>
      <p:sp>
        <p:nvSpPr>
          <p:cNvPr id="55" name="New shape" titl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29</a:t>
            </a:r>
          </a:p>
        </p:txBody>
      </p:sp>
      <p:sp>
        <p:nvSpPr>
          <p:cNvPr id="56" name="New shape" titl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visited amusement and theme parks worldwide 2023</a:t>
            </a:r>
          </a:p>
        </p:txBody>
      </p:sp>
      <p:sp>
        <p:nvSpPr>
          <p:cNvPr id="57" name="New shape" titl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30</a:t>
            </a:r>
          </a:p>
        </p:txBody>
      </p:sp>
      <p:sp>
        <p:nvSpPr>
          <p:cNvPr id="58" name="New shape" titl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Monuments on the UNESCO world heritage list 2024, by type</a:t>
            </a:r>
          </a:p>
        </p:txBody>
      </p:sp>
      <p:sp>
        <p:nvSpPr>
          <p:cNvPr id="59" name="New shape" titl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31</a:t>
            </a:r>
          </a:p>
        </p:txBody>
      </p:sp>
      <p:sp>
        <p:nvSpPr>
          <p:cNvPr id="60" name="New shape" titl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Selected countries with the most Michelin-starred restaurants worldwide 2024</a:t>
            </a:r>
          </a:p>
        </p:txBody>
      </p:sp>
      <p:sp>
        <p:nvSpPr>
          <p:cNvPr id="61" name="New shape" title=""/>
          <p:cNvSpPr/>
          <p:nvPr/>
        </p:nvSpPr>
        <p:spPr>
          <a:xfrm>
            <a:off x="5958000" y="3902745"/>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Online travel market</a:t>
            </a:r>
          </a:p>
        </p:txBody>
      </p:sp>
      <p:sp>
        <p:nvSpPr>
          <p:cNvPr id="62" name="New shape" title=""/>
          <p:cNvSpPr/>
          <p:nvPr/>
        </p:nvSpPr>
        <p:spPr>
          <a:xfrm>
            <a:off x="10915200" y="4136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33</a:t>
            </a:r>
          </a:p>
        </p:txBody>
      </p:sp>
      <p:sp>
        <p:nvSpPr>
          <p:cNvPr id="63" name="New shape" title=""/>
          <p:cNvSpPr/>
          <p:nvPr/>
        </p:nvSpPr>
        <p:spPr>
          <a:xfrm>
            <a:off x="5958000" y="4136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Online travel market size worldwide 2017-2029</a:t>
            </a:r>
          </a:p>
        </p:txBody>
      </p:sp>
      <p:sp>
        <p:nvSpPr>
          <p:cNvPr id="64" name="New shape" title=""/>
          <p:cNvSpPr/>
          <p:nvPr/>
        </p:nvSpPr>
        <p:spPr>
          <a:xfrm>
            <a:off x="10915200" y="4306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34</a:t>
            </a:r>
          </a:p>
        </p:txBody>
      </p:sp>
      <p:sp>
        <p:nvSpPr>
          <p:cNvPr id="65" name="New shape" title=""/>
          <p:cNvSpPr/>
          <p:nvPr/>
        </p:nvSpPr>
        <p:spPr>
          <a:xfrm>
            <a:off x="5958000" y="4306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Estimated desktop vs. mobile revenue of leading OTAs worldwide 2023</a:t>
            </a:r>
          </a:p>
        </p:txBody>
      </p:sp>
      <p:sp>
        <p:nvSpPr>
          <p:cNvPr id="66" name="New shape" title=""/>
          <p:cNvSpPr/>
          <p:nvPr/>
        </p:nvSpPr>
        <p:spPr>
          <a:xfrm>
            <a:off x="10915200" y="4476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35</a:t>
            </a:r>
          </a:p>
        </p:txBody>
      </p:sp>
      <p:sp>
        <p:nvSpPr>
          <p:cNvPr id="67" name="New shape" title=""/>
          <p:cNvSpPr/>
          <p:nvPr/>
        </p:nvSpPr>
        <p:spPr>
          <a:xfrm>
            <a:off x="5958000" y="4476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aggregated downloads of leading online travel agency apps worldwide 2024</a:t>
            </a:r>
          </a:p>
        </p:txBody>
      </p:sp>
      <p:sp>
        <p:nvSpPr>
          <p:cNvPr id="68" name="New shape" title=""/>
          <p:cNvSpPr/>
          <p:nvPr/>
        </p:nvSpPr>
        <p:spPr>
          <a:xfrm>
            <a:off x="10915200" y="4647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36</a:t>
            </a:r>
          </a:p>
        </p:txBody>
      </p:sp>
      <p:sp>
        <p:nvSpPr>
          <p:cNvPr id="69" name="New shape" title=""/>
          <p:cNvSpPr/>
          <p:nvPr/>
        </p:nvSpPr>
        <p:spPr>
          <a:xfrm>
            <a:off x="5958000" y="4647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Market cap of leading online travel companies worldwide 2025</a:t>
            </a:r>
          </a:p>
        </p:txBody>
      </p:sp>
      <p:sp>
        <p:nvSpPr>
          <p:cNvPr id="70" name="New shape" title=""/>
          <p:cNvSpPr/>
          <p:nvPr/>
        </p:nvSpPr>
        <p:spPr>
          <a:xfrm>
            <a:off x="109152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37</a:t>
            </a:r>
          </a:p>
        </p:txBody>
      </p:sp>
      <p:sp>
        <p:nvSpPr>
          <p:cNvPr id="71" name="New shape" title=""/>
          <p:cNvSpPr/>
          <p:nvPr/>
        </p:nvSpPr>
        <p:spPr>
          <a:xfrm>
            <a:off x="59580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Estimated EV/Revenue ratio in the online travel market 2024, by segment</a:t>
            </a:r>
          </a:p>
        </p:txBody>
      </p:sp>
      <p:sp>
        <p:nvSpPr>
          <p:cNvPr id="72" name="New shape" title=""/>
          <p:cNvSpPr/>
          <p:nvPr/>
        </p:nvSpPr>
        <p:spPr>
          <a:xfrm>
            <a:off x="109152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38</a:t>
            </a:r>
          </a:p>
        </p:txBody>
      </p:sp>
      <p:sp>
        <p:nvSpPr>
          <p:cNvPr id="73" name="New shape" title=""/>
          <p:cNvSpPr/>
          <p:nvPr/>
        </p:nvSpPr>
        <p:spPr>
          <a:xfrm>
            <a:off x="59580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Estimated EV/EBITDA ratio in the online travel market 2024, by segment</a:t>
            </a:r>
          </a:p>
        </p:txBody>
      </p:sp>
      <p:sp>
        <p:nvSpPr>
          <p:cNvPr id="74" name="New shape" title=""/>
          <p:cNvSpPr/>
          <p:nvPr/>
        </p:nvSpPr>
        <p:spPr>
          <a:xfrm>
            <a:off x="5958000" y="52848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06 Selected trends</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a:t>
            </a:r>
          </a:p>
        </p:txBody>
      </p:sp>
      <p:sp>
        <p:nvSpPr>
          <p:cNvPr id="7" name="New shape" titl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40</a:t>
            </a:r>
          </a:p>
        </p:txBody>
      </p:sp>
      <p:sp>
        <p:nvSpPr>
          <p:cNvPr id="8" name="New shape" titl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tech investments by travel and mobility corporations worldwide 2018-2024</a:t>
            </a:r>
          </a:p>
        </p:txBody>
      </p:sp>
      <p:sp>
        <p:nvSpPr>
          <p:cNvPr id="9" name="New shape" titl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41</a:t>
            </a:r>
          </a:p>
        </p:txBody>
      </p:sp>
      <p:sp>
        <p:nvSpPr>
          <p:cNvPr id="10" name="New shape" titl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Use of mobile devices to plan travel with an AI chatbot worldwide 2023, by country</a:t>
            </a:r>
          </a:p>
        </p:txBody>
      </p:sp>
      <p:sp>
        <p:nvSpPr>
          <p:cNvPr id="11" name="New shape" title=""/>
          <p:cNvSpPr/>
          <p:nvPr/>
        </p:nvSpPr>
        <p:spPr>
          <a:xfrm>
            <a:off x="55440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42</a:t>
            </a:r>
          </a:p>
        </p:txBody>
      </p:sp>
      <p:sp>
        <p:nvSpPr>
          <p:cNvPr id="12" name="New shape" title=""/>
          <p:cNvSpPr/>
          <p:nvPr/>
        </p:nvSpPr>
        <p:spPr>
          <a:xfrm>
            <a:off x="5868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travelers who believe in the importance of green travel 2024</a:t>
            </a:r>
          </a:p>
        </p:txBody>
      </p:sp>
      <p:sp>
        <p:nvSpPr>
          <p:cNvPr id="13" name="New shape" title=""/>
          <p:cNvSpPr/>
          <p:nvPr/>
        </p:nvSpPr>
        <p:spPr>
          <a:xfrm>
            <a:off x="55440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43</a:t>
            </a:r>
          </a:p>
        </p:txBody>
      </p:sp>
      <p:sp>
        <p:nvSpPr>
          <p:cNvPr id="14" name="New shape" title=""/>
          <p:cNvSpPr/>
          <p:nvPr/>
        </p:nvSpPr>
        <p:spPr>
          <a:xfrm>
            <a:off x="5868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Reasons for traveling sustainably worldwide 2024</a:t>
            </a:r>
          </a:p>
        </p:txBody>
      </p:sp>
      <p:sp>
        <p:nvSpPr>
          <p:cNvPr id="15" name="New shape" title=""/>
          <p:cNvSpPr/>
          <p:nvPr/>
        </p:nvSpPr>
        <p:spPr>
          <a:xfrm>
            <a:off x="55440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44</a:t>
            </a:r>
          </a:p>
        </p:txBody>
      </p:sp>
      <p:sp>
        <p:nvSpPr>
          <p:cNvPr id="16" name="New shape" title=""/>
          <p:cNvSpPr/>
          <p:nvPr/>
        </p:nvSpPr>
        <p:spPr>
          <a:xfrm>
            <a:off x="5868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Airbnb revenue 2017-2024</a:t>
            </a:r>
          </a:p>
        </p:txBody>
      </p:sp>
      <p:sp>
        <p:nvSpPr>
          <p:cNvPr id="17" name="New shape" title=""/>
          <p:cNvSpPr/>
          <p:nvPr/>
        </p:nvSpPr>
        <p:spPr>
          <a:xfrm>
            <a:off x="5544000" y="273419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45</a:t>
            </a:r>
          </a:p>
        </p:txBody>
      </p:sp>
      <p:sp>
        <p:nvSpPr>
          <p:cNvPr id="18" name="New shape" title=""/>
          <p:cNvSpPr/>
          <p:nvPr/>
        </p:nvSpPr>
        <p:spPr>
          <a:xfrm>
            <a:off x="586800" y="273419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Airbnb nights and experiences booked worldwide 2017-2024</a:t>
            </a:r>
          </a:p>
        </p:txBody>
      </p:sp>
      <p:sp>
        <p:nvSpPr>
          <p:cNvPr id="19" name="New shape" title=""/>
          <p:cNvSpPr/>
          <p:nvPr/>
        </p:nvSpPr>
        <p:spPr>
          <a:xfrm>
            <a:off x="586800" y="303146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07 Outlook</a:t>
            </a:r>
          </a:p>
        </p:txBody>
      </p:sp>
      <p:sp>
        <p:nvSpPr>
          <p:cNvPr id="20" name="New shape" title=""/>
          <p:cNvSpPr/>
          <p:nvPr/>
        </p:nvSpPr>
        <p:spPr>
          <a:xfrm>
            <a:off x="55440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47</a:t>
            </a:r>
          </a:p>
        </p:txBody>
      </p:sp>
      <p:sp>
        <p:nvSpPr>
          <p:cNvPr id="21" name="New shape" title=""/>
          <p:cNvSpPr/>
          <p:nvPr/>
        </p:nvSpPr>
        <p:spPr>
          <a:xfrm>
            <a:off x="5868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Travel and tourism revenue worldwide 2020-2029, by segment</a:t>
            </a:r>
          </a:p>
        </p:txBody>
      </p:sp>
      <p:sp>
        <p:nvSpPr>
          <p:cNvPr id="22" name="New shape" title=""/>
          <p:cNvSpPr/>
          <p:nvPr/>
        </p:nvSpPr>
        <p:spPr>
          <a:xfrm>
            <a:off x="55440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48</a:t>
            </a:r>
          </a:p>
        </p:txBody>
      </p:sp>
      <p:sp>
        <p:nvSpPr>
          <p:cNvPr id="23" name="New shape" title=""/>
          <p:cNvSpPr/>
          <p:nvPr/>
        </p:nvSpPr>
        <p:spPr>
          <a:xfrm>
            <a:off x="5868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Distribution of sales channels in the travel and tourism market worldwide 2019-2029</a:t>
            </a:r>
          </a:p>
        </p:txBody>
      </p:sp>
      <p:sp>
        <p:nvSpPr>
          <p:cNvPr id="24" name="New shape" title=""/>
          <p:cNvSpPr/>
          <p:nvPr/>
        </p:nvSpPr>
        <p:spPr>
          <a:xfrm>
            <a:off x="55440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49</a:t>
            </a:r>
          </a:p>
        </p:txBody>
      </p:sp>
      <p:sp>
        <p:nvSpPr>
          <p:cNvPr id="25" name="New shape" title=""/>
          <p:cNvSpPr/>
          <p:nvPr/>
        </p:nvSpPr>
        <p:spPr>
          <a:xfrm>
            <a:off x="5868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Inbound tourism visitor growth worldwide 2020-2025, by region</a:t>
            </a:r>
          </a:p>
        </p:txBody>
      </p:sp>
      <p:sp>
        <p:nvSpPr>
          <p:cNvPr id="26" name="New shape" title=""/>
          <p:cNvSpPr/>
          <p:nvPr/>
        </p:nvSpPr>
        <p:spPr>
          <a:xfrm>
            <a:off x="55440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50</a:t>
            </a:r>
          </a:p>
        </p:txBody>
      </p:sp>
      <p:sp>
        <p:nvSpPr>
          <p:cNvPr id="27" name="New shape" title=""/>
          <p:cNvSpPr/>
          <p:nvPr/>
        </p:nvSpPr>
        <p:spPr>
          <a:xfrm>
            <a:off x="5868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Outbound tourism visitor growth worldwide 2020-2025, by region</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total contribution of travel and tourism to the global gross domestic product (GDP) was roughly four percent lower than in 2019, the year before the COVID-19 pandemic. Overall, the contribution of travel and tourism to the global GDP amounted to 9.9 trillion U.S. dollars in 2023. This figure was predicted to reach an estimated 11.1 trillion U.S. dollars in 2024, exceeding pre-pandemic levels.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and 2023; figures are in constant 2023 prices and exchange rates as of March 2024</a:t>
            </a:r>
          </a:p>
          <a:p>
            <a:r>
              <a:rPr sz="600" b="1">
                <a:solidFill>
                  <a:srgbClr val="0F2741"/>
                </a:solidFill>
                <a:latin typeface="Open Sans"/>
              </a:rPr>
              <a:t>Source(s): </a:t>
            </a:r>
            <a:r>
              <a:rPr sz="600" b="0">
                <a:solidFill>
                  <a:srgbClr val="0F2741"/>
                </a:solidFill>
                <a:latin typeface="Open Sans"/>
              </a:rPr>
              <a:t>Oxford Economics; WTTC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7500" lnSpcReduction="10000"/>
          </a:bodyPr>
          <a:lstStyle/>
          <a:p>
            <a:pPr algn="l">
              <a:lnSpc>
                <a:spcPct val="100000"/>
              </a:lnSpc>
              <a:spcAft>
                <a:spcPct val="20000"/>
              </a:spcAft>
            </a:pPr>
            <a:r>
              <a:rPr sz="2500">
                <a:solidFill>
                  <a:srgbClr val="0F2741"/>
                </a:solidFill>
                <a:latin typeface="Open Sans Light"/>
              </a:rPr>
              <a:t>Total contribution of travel and tourism to gross domestic product (GDP) worldwide in 2019 and 2023, with a forecast for 2024 and 2034 (in trillion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Total contribution of travel and tourism to GDP worldwide 2019-2034</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share of travel and tourism's total contribution to global gross domestic product (GDP) showed a decline of 1.3 percentage points compared to 2019, the year before the COVID-19 pandemic. Overall, these industries represented 9.1 percent of the global GDP in 2023. That year, the total contribution of travel and tourism to the global GDP amounted to nearly 10 trillion U.S. dollars.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and 2023</a:t>
            </a:r>
          </a:p>
          <a:p>
            <a:r>
              <a:rPr sz="600" b="1">
                <a:solidFill>
                  <a:srgbClr val="0F2741"/>
                </a:solidFill>
                <a:latin typeface="Open Sans"/>
              </a:rPr>
              <a:t>Source(s): </a:t>
            </a:r>
            <a:r>
              <a:rPr sz="600" b="0">
                <a:solidFill>
                  <a:srgbClr val="0F2741"/>
                </a:solidFill>
                <a:latin typeface="Open Sans"/>
              </a:rPr>
              <a:t>Oxford Economics; WTTC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travel and tourism's total contribution to GDP worldwide in 2019 and 2023, with a forecast for 2024 and 2034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Travel and tourism: share of global GDP 2019-2034</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United States was the country worldwide with the highest total contribution of travel and tourism to GDP. That year, the total GDP contribution of travel and tourism in the U.S. amounted to 2.36 trillion U.S. dollars, exceeding pre-pandemic levels. China and Germany followed in the ranking in 2023, with travel and tourism's total contributions to GDP of around 1.3 trillion and 488 billion U.S. dollars, respectively. Overall, the total contribution of travel and tourism to GDP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and 2023; figures are in constant 2023 prices and exchange rates as of March 2024; countries are ranked based on the highest travel and tourism's total contribution to GDP in 2023</a:t>
            </a:r>
          </a:p>
          <a:p>
            <a:r>
              <a:rPr sz="600" b="1">
                <a:solidFill>
                  <a:srgbClr val="0F2741"/>
                </a:solidFill>
                <a:latin typeface="Open Sans"/>
              </a:rPr>
              <a:t>Source(s): </a:t>
            </a:r>
            <a:r>
              <a:rPr sz="600" b="0">
                <a:solidFill>
                  <a:srgbClr val="0F2741"/>
                </a:solidFill>
                <a:latin typeface="Open Sans"/>
              </a:rPr>
              <a:t>Oxford Economics; WTTC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043750" y="1882800"/>
            <a:ext cx="4102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Total contribution to GDP in billion U.S. dollars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Total contribution of travel and tourism to GDP in leading travel markets worldwide in 2019 and 2023 (in billion U.S. dollars)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global travel markets by travel and tourism contribution to GDP 2019-2023</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Global leisure tourism spending grew by 21.2 percent in 2023 compared to the previous year. Despite the significant annual increase, the expenditure by leisure travelers worldwide remained below pre-pandemic levels, amounting to around 5.17 trillion U.S. dollars in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to 2023; figures are in constant 2023 prices and exchange rates as of March 2024</a:t>
            </a:r>
          </a:p>
          <a:p>
            <a:r>
              <a:rPr sz="600" b="1">
                <a:solidFill>
                  <a:srgbClr val="0F2741"/>
                </a:solidFill>
                <a:latin typeface="Open Sans"/>
              </a:rPr>
              <a:t>Source(s): </a:t>
            </a:r>
            <a:r>
              <a:rPr sz="600" b="0">
                <a:solidFill>
                  <a:srgbClr val="0F2741"/>
                </a:solidFill>
                <a:latin typeface="Open Sans"/>
              </a:rPr>
              <a:t>Oxford Economics; Statista; WTTC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Leisure tourism spending worldwide from 2019 to 2023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leisure travel spend 2019-2023</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Global business tourism spending was estimated to reach approximately 1.5 trillion U.S. dollars in 2024, which represents a full recovery from the COVID-19 pandemic. Business travel is a branch of the tourism industry focusing on trips made for work-related purposes. Attending congresses, meetings, and trade fairs, for instance, are among the main activities related to this market.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a:t>
            </a:r>
          </a:p>
          <a:p>
            <a:r>
              <a:rPr sz="600" b="1">
                <a:solidFill>
                  <a:srgbClr val="0F2741"/>
                </a:solidFill>
                <a:latin typeface="Open Sans"/>
              </a:rPr>
              <a:t>Source(s): </a:t>
            </a:r>
            <a:r>
              <a:rPr sz="600" b="0">
                <a:solidFill>
                  <a:srgbClr val="0F2741"/>
                </a:solidFill>
                <a:latin typeface="Open Sans"/>
              </a:rPr>
              <a:t>GBTA; Visa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Expenditure of business tourists worldwide from 2001 to 2024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business travel spending 2001-2024</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international tourist arrivals worldwide increased significantly in 2024 over the previous year, nearly catching up with pre-pandemic levels. After declining with the onset of the COVID-19 pandemic to roughly 406 million, the lowest figure recorded since 1989, global inbound tourist arrivals exceeded 1.4 billion in 2024, being just 1.3 percent lower than in 2019.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1950 to 2024</a:t>
            </a:r>
          </a:p>
          <a:p>
            <a:r>
              <a:rPr sz="600" b="1">
                <a:solidFill>
                  <a:srgbClr val="0F2741"/>
                </a:solidFill>
                <a:latin typeface="Open Sans"/>
              </a:rPr>
              <a:t>Source(s): </a:t>
            </a:r>
            <a:r>
              <a:rPr sz="600" b="0">
                <a:solidFill>
                  <a:srgbClr val="0F2741"/>
                </a:solidFill>
                <a:latin typeface="Open Sans"/>
              </a:rPr>
              <a:t>World Tourism Organization (UN Tourism); Worldwatch Institute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international tourist arrivals worldwide from 1950 to 2024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international tourist arrivals worldwide 1950-2024</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international tourist arrivals worldwide increased across all regions in 2024 over the previous year. Except for the Asia-Pacific region, inbound tourist arrivals in 2024 exceeded pre-pandemic levels. Overall, Europe reported the highest volume of inbound travelers over the period considered, with around 747 million arrivals in 2024.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2005 to 2024</a:t>
            </a:r>
          </a:p>
          <a:p>
            <a:r>
              <a:rPr sz="600" b="1">
                <a:solidFill>
                  <a:srgbClr val="0F2741"/>
                </a:solidFill>
                <a:latin typeface="Open Sans"/>
              </a:rPr>
              <a:t>Source(s): </a:t>
            </a:r>
            <a:r>
              <a:rPr sz="600" b="0">
                <a:solidFill>
                  <a:srgbClr val="0F2741"/>
                </a:solidFill>
                <a:latin typeface="Open Sans"/>
              </a:rPr>
              <a:t>World Tourism Organization (UN Tourism)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international tourist arrivals worldwide from 2005 to 2024, by region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international tourist arrivals worldwide 2005-2024, by region</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Global employment in the travel and tourism sector increased significantly in 2023 over the previous year, nearly catching up with the figure from 2019, the year before the COVID-19 pandemic. Overall, travel and tourism generated, directly and indirectly, around 330 million jobs worldwide in 2023. This figure was predicted to reach an estimated 348 million in 2024, surpassing pre-pandemic levels.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to 2023</a:t>
            </a:r>
          </a:p>
          <a:p>
            <a:r>
              <a:rPr sz="600" b="1">
                <a:solidFill>
                  <a:srgbClr val="0F2741"/>
                </a:solidFill>
                <a:latin typeface="Open Sans"/>
              </a:rPr>
              <a:t>Source(s): </a:t>
            </a:r>
            <a:r>
              <a:rPr sz="600" b="0">
                <a:solidFill>
                  <a:srgbClr val="0F2741"/>
                </a:solidFill>
                <a:latin typeface="Open Sans"/>
              </a:rPr>
              <a:t>Oxford Economics; WTTC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travel and tourism jobs worldwide from 2019 to 2023, with a forecast for 2024 and 2034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Travel and tourism employment worldwide 2019-2034</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Hotels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market size of the hotel and resort sector worldwide peaked at 1.5 trillion U.S. dollars in 2023. This showed five percent growth over the previous year's figure of 1.43 trillion U.S. dollars. What are the leading hotel brands globally? In 2023, among hotel brands with the highest brand values globally were industry giants like Hilton, Hyatt, and Hampton Inn. Hilton was reported to have a brand value exceeding 11 billion U.S. dollars. However, while Hilton led brand value, Wyndham hotels and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2022 to 2023</a:t>
            </a:r>
          </a:p>
          <a:p>
            <a:r>
              <a:rPr sz="600" b="1">
                <a:solidFill>
                  <a:srgbClr val="0F2741"/>
                </a:solidFill>
                <a:latin typeface="Open Sans"/>
              </a:rPr>
              <a:t>Source(s): </a:t>
            </a:r>
            <a:r>
              <a:rPr sz="600" b="0">
                <a:solidFill>
                  <a:srgbClr val="0F2741"/>
                </a:solidFill>
                <a:latin typeface="Open Sans"/>
              </a:rPr>
              <a:t>IBISWorld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Market size of the hotel and resort industry worldwide in 2022 and 2023 (in trillion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hotel and resort industry market size worldwide 2022-2023</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Hilton was the most valuable hotel brand in 2023, with a global brand value of nearly 12 billion U.S. dollars. Other major hotel brands in the ranking included Hyatt, Hampton Inn, and Holiday Inn. The brand value of these companies amounted to 6.07, 4.26, and 3.75 billion U.S. dollars,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a:t>
            </a:r>
          </a:p>
          <a:p>
            <a:r>
              <a:rPr sz="600" b="1">
                <a:solidFill>
                  <a:srgbClr val="0F2741"/>
                </a:solidFill>
                <a:latin typeface="Open Sans"/>
              </a:rPr>
              <a:t>Source(s): </a:t>
            </a:r>
            <a:r>
              <a:rPr sz="600" b="0">
                <a:solidFill>
                  <a:srgbClr val="0F2741"/>
                </a:solidFill>
                <a:latin typeface="Open Sans"/>
              </a:rPr>
              <a:t>Brand Finance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843850" y="1882800"/>
            <a:ext cx="2501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Value in billion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hotel brands based on brand value worldwide in 2023 (in billion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valuable hotel brands worldwide 2023, by brand value</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Global hotel chain, Wyndham Hotels &amp;amp; Resorts, leads the ranking of the top hotel companies by number of properties. As of June 2023, Wyndham accounted for over nine thousand units in its worldwide portfolio, making the company a key player in the global hotel industry. Its closest competitors were Marriot International and Choice Hotels International, who reported 8,353 and 7,467 properties, respectively. The global hotel property market The hotel industry is full of competition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June 2023</a:t>
            </a:r>
          </a:p>
          <a:p>
            <a:r>
              <a:rPr sz="600" b="1">
                <a:solidFill>
                  <a:srgbClr val="0F2741"/>
                </a:solidFill>
                <a:latin typeface="Open Sans"/>
              </a:rPr>
              <a:t>Source(s): </a:t>
            </a:r>
            <a:r>
              <a:rPr sz="600" b="0">
                <a:solidFill>
                  <a:srgbClr val="0F2741"/>
                </a:solidFill>
                <a:latin typeface="Open Sans"/>
              </a:rPr>
              <a:t>Hotel Management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1650" y="1882800"/>
            <a:ext cx="21463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properties </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hotel companies worldwide as of June 2023, by number of properties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hotel companies worldwide 2023, by number of properties</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Across the world, there were a total of 6,195 hotels under construction as of the first quarter 2024. Meanwhile, 3,840 hotels were planned to start construction in the next 12 months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2024</a:t>
            </a:r>
          </a:p>
          <a:p>
            <a:r>
              <a:rPr sz="600" b="1">
                <a:solidFill>
                  <a:srgbClr val="0F2741"/>
                </a:solidFill>
                <a:latin typeface="Open Sans"/>
              </a:rPr>
              <a:t>Source(s): </a:t>
            </a:r>
            <a:r>
              <a:rPr sz="600" b="0">
                <a:solidFill>
                  <a:srgbClr val="0F2741"/>
                </a:solidFill>
                <a:latin typeface="Open Sans"/>
              </a:rPr>
              <a:t>Lodging Econometrics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hotels in the construction pipeline worldwide as of the first quarter of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hotels in the construction pipeline worldwide 2024</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Across the world, there were over 1.1 million hotel rooms under construction as of the first quarter of 2024. Meanwhile, 528,251 hotel rooms were planned to start construction in the next 12 months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2024</a:t>
            </a:r>
          </a:p>
          <a:p>
            <a:r>
              <a:rPr sz="600" b="1">
                <a:solidFill>
                  <a:srgbClr val="0F2741"/>
                </a:solidFill>
                <a:latin typeface="Open Sans"/>
              </a:rPr>
              <a:t>Source(s): </a:t>
            </a:r>
            <a:r>
              <a:rPr sz="600" b="0">
                <a:solidFill>
                  <a:srgbClr val="0F2741"/>
                </a:solidFill>
                <a:latin typeface="Open Sans"/>
              </a:rPr>
              <a:t>Lodging Econometrics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hotel rooms in the construction pipeline worldwide as of the first quarter of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hotel rooms in the construction pipeline worldwide 2024</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United States was the country with the highest number of hotel construction projects in the pipeline worldwide as of the first quarter of 2024, reaching a total of 2,272 projects. Meanwhile, China came second in the ranking with 1,688 hotel projects in the pipeline.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2024</a:t>
            </a:r>
          </a:p>
          <a:p>
            <a:r>
              <a:rPr sz="600" b="1">
                <a:solidFill>
                  <a:srgbClr val="0F2741"/>
                </a:solidFill>
                <a:latin typeface="Open Sans"/>
              </a:rPr>
              <a:t>Source(s): </a:t>
            </a:r>
            <a:r>
              <a:rPr sz="600" b="0">
                <a:solidFill>
                  <a:srgbClr val="0F2741"/>
                </a:solidFill>
                <a:latin typeface="Open Sans"/>
              </a:rPr>
              <a:t>Lodging Econometrics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Countries with the highest number of hotel construction projects in the pipeline worldwide as of the first quarter of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the most hotel construction projects in the pipeline worldwide 2024</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Transport</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Hartsfield-Jackson Atlanta International Airport (ATL) in the United States had the most international air passenger traffic of any airport worldwide, with just under 104.7 million international passengers. Second and third in the ranking were Dubai and Dallas/Fort Worth, with approximately 87 million and 82 million international passengers,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2023; Total passengers enplaned and deplaned, passengers in transit counted once. </a:t>
            </a:r>
          </a:p>
          <a:p>
            <a:r>
              <a:rPr sz="600" b="1">
                <a:solidFill>
                  <a:srgbClr val="0F2741"/>
                </a:solidFill>
                <a:latin typeface="Open Sans"/>
              </a:rPr>
              <a:t>Source(s): </a:t>
            </a:r>
            <a:r>
              <a:rPr sz="600" b="0">
                <a:solidFill>
                  <a:srgbClr val="0F2741"/>
                </a:solidFill>
                <a:latin typeface="Open Sans"/>
              </a:rPr>
              <a:t>ACI; International Airport Review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018350" y="1882800"/>
            <a:ext cx="4152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international passengers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airports for international air passenger traffic in 2023 (in million international passengers)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Airports with the most international air passenger traffic worldwide 2023</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Delta Air Lines was the most valuable airline in the world as of May 2023, with a market value of 34 billion U.S. dollars. Ryanair Holdings ranked second, with 22.7 billion U.S. dollars worth of market value.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2024</a:t>
            </a:r>
          </a:p>
          <a:p>
            <a:r>
              <a:rPr sz="600" b="1">
                <a:solidFill>
                  <a:srgbClr val="0F2741"/>
                </a:solidFill>
                <a:latin typeface="Open Sans"/>
              </a:rPr>
              <a:t>Source(s): </a:t>
            </a:r>
            <a:r>
              <a:rPr sz="600" b="0">
                <a:solidFill>
                  <a:srgbClr val="0F2741"/>
                </a:solidFill>
                <a:latin typeface="Open Sans"/>
              </a:rPr>
              <a:t>FactSet; Forbes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51750" y="1882800"/>
            <a:ext cx="3086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Market value in billion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21</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Market value of selected airlines worldwide as of May 2024 (in billion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Market value of selected airlines worldwide 2024</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passenger train users globally has grown consistently since 2017 and is projected to continue on an upward trend. In 2023, around 970 million passenger rail users were recorded. By 2028, this number is expected to grow to 1.08 billion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2028; based on an March 2024 forecast.</a:t>
            </a:r>
          </a:p>
          <a:p>
            <a:r>
              <a:rPr sz="600" b="1">
                <a:solidFill>
                  <a:srgbClr val="0F2741"/>
                </a:solidFill>
                <a:latin typeface="Open Sans"/>
              </a:rPr>
              <a:t>Source(s): </a:t>
            </a:r>
            <a:r>
              <a:rPr sz="600" b="0">
                <a:solidFill>
                  <a:srgbClr val="0F2741"/>
                </a:solidFill>
                <a:latin typeface="Open Sans"/>
              </a:rPr>
              <a:t>Statista; Statista Mobility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Worldwide number of passenger rail users from 2017 to 2023, with a forecast through 2028 (in billion users)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passenger rail users forecast 2017-2028</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Latin America has the largest global daily ridership of bus rapid transit (BRT). Over 18.5 million people use BRT daily in Latin America, more than twice as many daily passengers as recorded in Asia, which has the second-highest number of BRT riders.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January 2024</a:t>
            </a:r>
          </a:p>
          <a:p>
            <a:r>
              <a:rPr sz="600" b="1">
                <a:solidFill>
                  <a:srgbClr val="0F2741"/>
                </a:solidFill>
                <a:latin typeface="Open Sans"/>
              </a:rPr>
              <a:t>Source(s): </a:t>
            </a:r>
            <a:r>
              <a:rPr sz="600" b="0">
                <a:solidFill>
                  <a:srgbClr val="0F2741"/>
                </a:solidFill>
                <a:latin typeface="Open Sans"/>
              </a:rPr>
              <a:t>BRTData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199450" y="1882800"/>
            <a:ext cx="17907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Daily passengers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daily passengers using bus rapid transit (BRT) systems as of January 2024, by region</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Daily ridership of bus rapid transit systems worldwide by region 2024</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global number of users in the 'Car Rentals' segment of the shared mobility market was forecast to continuously increase between 2024 and 2029 by in total 220.4 million users (+37.05 percent). After the ninth consecutive increasing year, the indicator is estimated to reach 815.31 million users and therefore a new peak in 2029. Notably, the number of users of the 'Car Rentals' segment of the shared mobility market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2020 to 2029</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users of car rentals worldwide from 2020 to 2029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users of car rentals worldwide 2020-2029</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From the selected regions, the ranking by number of users in the 'Car Rentals' segment of the shared mobility market is led by China with 139.35 million users and is followed by the United States (48.01 million users). In contrast, the ranking is trailed by Austria with 0.68 million users, recording a difference of 138.67 million users to China.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Jan 1st to Dec 31st 2023</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88350" y="1882800"/>
            <a:ext cx="1612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Users in million</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users in selected countries in the Car Rentals market in 2023 (in million)</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users in selected countries in the Car Rentals market in 2023</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Air travel caused the largest amount of transport-related carbon dioxide emissions from international tourist arrivals worldwide in 2005 and 2016, and was predicted to do so in 2030 as well, with emissions forecast to grow to 616 million metric tons of CO2. Meanwhile, other modes of transport, such as train travel, produced the smallest carbon footprint.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a:t>
            </a:r>
          </a:p>
          <a:p>
            <a:r>
              <a:rPr sz="600" b="1">
                <a:solidFill>
                  <a:srgbClr val="0F2741"/>
                </a:solidFill>
                <a:latin typeface="Open Sans"/>
              </a:rPr>
              <a:t>Source(s): </a:t>
            </a:r>
            <a:r>
              <a:rPr sz="600" b="0">
                <a:solidFill>
                  <a:srgbClr val="0F2741"/>
                </a:solidFill>
                <a:latin typeface="Open Sans"/>
              </a:rPr>
              <a:t>Various sources (UNEP, WMO, ITF, IEA, IATA, Amadeus); World Tourism Organization (UN Tourism)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0000"/>
          </a:bodyPr>
          <a:lstStyle/>
          <a:p>
            <a:pPr algn="l">
              <a:lnSpc>
                <a:spcPct val="100000"/>
              </a:lnSpc>
              <a:spcAft>
                <a:spcPct val="20000"/>
              </a:spcAft>
            </a:pPr>
            <a:r>
              <a:rPr sz="2500">
                <a:solidFill>
                  <a:srgbClr val="0F2741"/>
                </a:solidFill>
                <a:latin typeface="Open Sans Light"/>
              </a:rPr>
              <a:t>Transport-related emissions from international tourist arrivals worldwide in 2005 and 2016, with a forecast for 2030, by mode of transport (in million metric tons of carbon dioxide)</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Carbon footprint of international tourism transport worldwide 2005-2030, by type</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Attractions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2"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Louvre in Paris, France, was the most visited museum worldwide, reporting nearly 8.9 million visits. While attendance at the renowned institution increased sharply compared to the previous year, it did not fully recover yet from the impact of COVID-19. Meanwhile, the Vatican Museums in the Vatican City and the National Museum of China in Beijing followed in the ranking in 2023, each with roughly 6.8 million visits.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to 2023; museums are ranked based on the highest attendance in 2023</a:t>
            </a:r>
          </a:p>
          <a:p>
            <a:r>
              <a:rPr sz="600" b="1">
                <a:solidFill>
                  <a:srgbClr val="0F2741"/>
                </a:solidFill>
                <a:latin typeface="Open Sans"/>
              </a:rPr>
              <a:t>Source(s): </a:t>
            </a:r>
            <a:r>
              <a:rPr sz="600" b="0">
                <a:solidFill>
                  <a:srgbClr val="0F2741"/>
                </a:solidFill>
                <a:latin typeface="Open Sans"/>
              </a:rPr>
              <a:t>AECOM; Themed Entertainment Association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800"/>
          <a:ext cx="11016000" cy="2849880"/>
        </p:xfrm>
        <a:graphic>
          <a:graphicData uri="http://schemas.openxmlformats.org/drawingml/2006/table">
            <a:tbl>
              <a:tblPr firstRow="1" bandRow="1">
                <a:tableStyleId>{5C22544A-7EE6-4342-B048-85BDC9FD1C3A}</a:tableStyleId>
              </a:tblPr>
              <a:tblGrid>
                <a:gridCol w="4343250"/>
                <a:gridCol w="2224250"/>
                <a:gridCol w="2224250"/>
                <a:gridCol w="222425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2019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2022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2023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Louvre, Paris (France)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9.6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7.73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8.86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Vatican Museums, Vatican (Vatican City)</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6.88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5.08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6.77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National Museum of China, Beijing (China)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7.39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6.76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British Museum, London (United Kingdom)</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6.21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5.82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Natural History Museum, London (United Kingdom)</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5.42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4.66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5.69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The Metropolitan Museum of Art, New York (United States)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6.77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3.21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5.36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China Science Technology Museum, Beijing (China)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3.89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1.43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5.32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Nanjing Museum, Nanjing (China)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4.17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5.01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American Museum of Natural History, New York (United States)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Suzhou Museum, Suzhou (China)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1.42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4.85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523300" y="5339925"/>
            <a:ext cx="11143000" cy="6914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9" r:id="rId7" imgW="2203200" imgH="629486" progId=".xls">
                  <p:embed/>
                </p:oleObj>
              </mc:Choice>
              <mc:Fallback>
                <p:oleObj r:id="rId7" imgW="2203200" imgH="629486" progId=".xls">
                  <p:embed/>
                  <p:pic>
                    <p:nvPicPr>
                      <p:cNvPr id="0" name="OLE substitute image"/>
                      <p:cNvPicPr/>
                      <p:nvPr/>
                    </p:nvPicPr>
                    <p:blipFill>
                      <a:blip r:embed="rId9"/>
                      <a:srcRect t="100000"/>
                      <a:tile tx="0" ty="0" sx="100000" sy="100000" flip="none" algn="tl"/>
                    </p:blipFill>
                    <p:spPr>
                      <a:xfrm>
                        <a:off x="9399600" y="5401865"/>
                        <a:ext cx="2203200" cy="629486"/>
                      </a:xfrm>
                      <a:prstGeom prst="rect">
                        <a:avLst/>
                      </a:prstGeom>
                      <a:blipFill>
                        <a:blip r:embed="rId8"/>
                        <a:stretch>
                          <a:fillRect/>
                        </a:stretch>
                      </a:blipFill>
                      <a:ln>
                        <a:noFill/>
                      </a:ln>
                    </p:spPr>
                  </p:pic>
                </p:oleObj>
              </mc:Fallback>
            </mc:AlternateContent>
          </a:graphicData>
        </a:graphic>
      </p:graphicFrame>
      <p:sp>
        <p:nvSpPr>
          <p:cNvPr id="7"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8"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Museums with the highest attendance worldwide from 2019 to 2023 (in millions)</a:t>
            </a:r>
          </a:p>
        </p:txBody>
      </p:sp>
      <p:sp>
        <p:nvSpPr>
          <p:cNvPr id="9"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visited museums worldwide 2019-2023</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United States’ Magic Kingdom (Walt Disney World) was visited by over 17.7 million people, making it the most visited amusement park worldwide. Meanwhile, the second most visited park was Disneyland in Anaheim California.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2023</a:t>
            </a:r>
          </a:p>
          <a:p>
            <a:r>
              <a:rPr sz="600" b="1">
                <a:solidFill>
                  <a:srgbClr val="0F2741"/>
                </a:solidFill>
                <a:latin typeface="Open Sans"/>
              </a:rPr>
              <a:t>Source(s): </a:t>
            </a:r>
            <a:r>
              <a:rPr sz="600" b="0">
                <a:solidFill>
                  <a:srgbClr val="0F2741"/>
                </a:solidFill>
                <a:latin typeface="Open Sans"/>
              </a:rPr>
              <a:t>AECOM; Themed Entertainment Association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021650" y="1882800"/>
            <a:ext cx="21463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Attendance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29</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amusement and theme parks worldwide 2023, by attendance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visited amusement and theme parks worldwide 2023</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2024, the UNESCO world heritage list included 1,223 properties. Overall, cultural monuments accounted for the highest number of properties, with 952 such sites, followed by natural monuments and mixed sites.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2024</a:t>
            </a:r>
          </a:p>
          <a:p>
            <a:r>
              <a:rPr sz="600" b="1">
                <a:solidFill>
                  <a:srgbClr val="0F2741"/>
                </a:solidFill>
                <a:latin typeface="Open Sans"/>
              </a:rPr>
              <a:t>Source(s): </a:t>
            </a:r>
            <a:r>
              <a:rPr sz="600" b="0">
                <a:solidFill>
                  <a:srgbClr val="0F2741"/>
                </a:solidFill>
                <a:latin typeface="Open Sans"/>
              </a:rPr>
              <a:t>UNESCO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47050" y="1882800"/>
            <a:ext cx="2095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properties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monuments on the UNESCO world heritage list as of 2024, by type</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Monuments on the UNESCO world heritage list 2024, by type</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France was the country with the most Michelin-starred restaurants in the world as of August 2024, with 636 restaurants in the country having been awarded one, two, or three stars. Meanwhile, second in the ranking was Japan which had 387 restaurants with Michelin stars. Japan is also home to the city with the most Michelin-starred restaurants in the world, Tokyo.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August 2024; included were restaurants with one, two, and three Michelin stars </a:t>
            </a:r>
          </a:p>
          <a:p>
            <a:r>
              <a:rPr sz="600" b="1">
                <a:solidFill>
                  <a:srgbClr val="0F2741"/>
                </a:solidFill>
                <a:latin typeface="Open Sans"/>
              </a:rPr>
              <a:t>Source(s): </a:t>
            </a:r>
            <a:r>
              <a:rPr sz="600" b="0">
                <a:solidFill>
                  <a:srgbClr val="0F2741"/>
                </a:solidFill>
                <a:latin typeface="Open Sans"/>
              </a:rPr>
              <a:t>Michelin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1"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964500" y="1882800"/>
            <a:ext cx="2260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restaurants </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Michelin-starred restaurants in selected countries and territories worldwide as of August 2024</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Selected countries with the most Michelin-starred restaurants worldwide 2024</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Online travel market</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market size of the online travel industry worldwide increased sharply in 2023 compared to the previous year. After falling to 226 billion U.S. dollars with the onset of the COVID-19 pandemic, the online travel market's global revenue bounced back in 2022, then grew further in 2023, exceeding 600 billion U.S. dollars. This figure was expected to grow steadily in the following years, reaching an estimated 838 billion U.S. dollars by 2029.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2023</a:t>
            </a:r>
          </a:p>
          <a:p>
            <a:r>
              <a:rPr sz="600" b="1">
                <a:solidFill>
                  <a:srgbClr val="0F2741"/>
                </a:solidFill>
                <a:latin typeface="Open Sans"/>
              </a:rPr>
              <a:t>Source(s): </a:t>
            </a:r>
            <a:r>
              <a:rPr sz="600" b="0">
                <a:solidFill>
                  <a:srgbClr val="0F2741"/>
                </a:solidFill>
                <a:latin typeface="Open Sans"/>
              </a:rPr>
              <a:t>Statista; Statista Mobility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Online travel market size worldwide from 2017 to 2023, with a forecast until 2029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Online travel market size worldwide 2017-2029</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2023 estimates, Booking Holdings' global revenue was evenly split between mobile and desktop bookings. As estimated, the online travel agency (OTA) generated revenue of roughly 10.8 billion U.S. dollars through mobile devices and 10.5 billion U.S. dollars via desktop bookings. By contrast, it was estimated that most of the Expedia Group and Airbnb's revenue came from desktop users that year.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2023</a:t>
            </a:r>
          </a:p>
          <a:p>
            <a:r>
              <a:rPr sz="600" b="1">
                <a:solidFill>
                  <a:srgbClr val="0F2741"/>
                </a:solidFill>
                <a:latin typeface="Open Sans"/>
              </a:rPr>
              <a:t>Source(s): </a:t>
            </a:r>
            <a:r>
              <a:rPr sz="600" b="0">
                <a:solidFill>
                  <a:srgbClr val="0F2741"/>
                </a:solidFill>
                <a:latin typeface="Open Sans"/>
              </a:rPr>
              <a:t>Statista; Various sources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97800" y="1882800"/>
            <a:ext cx="2794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Revenue in billion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Estimated desktop vs. mobile revenue of leading online travel agencies (OTAs) worldwide in 2023 (in billion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Estimated desktop vs. mobile revenue of leading OTAs worldwide 2023</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Airbnb mobile app reported the highest number of downloads worldwide among the selected online travel agency and travel metasearch service apps in 2024. That year, the Airbnb app recorded almost 76 million aggregated downloads on iOS and Google Play. The Booking.com app was the second most downloaded app in the ranking, with over 67 million downloads.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2024; aggregated number of downloads on iOS and Google Play</a:t>
            </a:r>
          </a:p>
          <a:p>
            <a:r>
              <a:rPr sz="600" b="1">
                <a:solidFill>
                  <a:srgbClr val="0F2741"/>
                </a:solidFill>
                <a:latin typeface="Open Sans"/>
              </a:rPr>
              <a:t>Source(s): </a:t>
            </a:r>
            <a:r>
              <a:rPr sz="600" b="0">
                <a:solidFill>
                  <a:srgbClr val="0F2741"/>
                </a:solidFill>
                <a:latin typeface="Open Sans"/>
              </a:rPr>
              <a:t>AppMagic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2"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35</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aggregated downloads of selected leading online travel agency and travel metasearch service apps worldwide in 2024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aggregated downloads of leading online travel agency apps worldwide 2024</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March 2025, Booking Holdings recorded the highest market cap among the selected online travel companies worldwide. As of that month, Booking Holdings – the leading online travel agency (OTA) worldwide by revenue – recorded a market cap of over 146 billion U.S. dollars. Airbnb and Trip.com Group followed in the ranking, with a market cap of roughly 79.1 billion and 43.2 billion U.S. dollars,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March 12, 2025</a:t>
            </a:r>
          </a:p>
          <a:p>
            <a:r>
              <a:rPr sz="600" b="1">
                <a:solidFill>
                  <a:srgbClr val="0F2741"/>
                </a:solidFill>
                <a:latin typeface="Open Sans"/>
              </a:rPr>
              <a:t>Source(s): </a:t>
            </a:r>
            <a:r>
              <a:rPr sz="600" b="0">
                <a:solidFill>
                  <a:srgbClr val="0F2741"/>
                </a:solidFill>
                <a:latin typeface="Open Sans"/>
              </a:rPr>
              <a:t>Reuters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3"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Market cap in million U.S. dollars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36</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Market cap of selected leading online travel companies worldwide as of March 2025 (in billion U.S. dollars)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Market cap of leading online travel companies worldwide 2025</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December 2024 analysis, SaaS companies operating in the hospitality industry reported the highest enterprise value to revenue (EV/Revenue) ratio in the online travel market worldwide. As estimated, businesses in that segment recorded an EV/Revenue multiple of 7.2x. This figure was 12 times higher than that of the metasearch segment.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December 31, 2024; 451 companies</a:t>
            </a:r>
          </a:p>
          <a:p>
            <a:r>
              <a:rPr sz="600" b="1">
                <a:solidFill>
                  <a:srgbClr val="0F2741"/>
                </a:solidFill>
                <a:latin typeface="Open Sans"/>
              </a:rPr>
              <a:t>Source(s): </a:t>
            </a:r>
            <a:r>
              <a:rPr sz="600" b="0">
                <a:solidFill>
                  <a:srgbClr val="0F2741"/>
                </a:solidFill>
                <a:latin typeface="Open Sans"/>
              </a:rPr>
              <a:t>AGC Partners; Travel tech essentialist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800"/>
          <a:ext cx="11016000" cy="2590800"/>
        </p:xfrm>
        <a:graphic>
          <a:graphicData uri="http://schemas.openxmlformats.org/drawingml/2006/table">
            <a:tbl>
              <a:tblPr firstRow="1" bandRow="1">
                <a:tableStyleId>{5C22544A-7EE6-4342-B048-85BDC9FD1C3A}</a:tableStyleId>
              </a:tblPr>
              <a:tblGrid>
                <a:gridCol w="6065850"/>
                <a:gridCol w="495015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EV/2024 revenue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SaaS (hospitality market)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7.2x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Global online travel agencies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6.1x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Lodging</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4.7x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B2B transactional</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Leisure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2.4x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Niche online travel agencies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Ride share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1.9x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Airlines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0.8x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Metasearch</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0.6x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Estimated enterprise value to revenue (EV/Revenue) ratio in the online travel market worldwide as of December 2024, by segment</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Estimated EV/Revenue ratio in the online travel market 2024, by segment</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December 2024 analysis, SaaS companies operating in the hospitality industry reported the highest enterprise value to EBITDA (EV/EBITDA) ratio in the online travel market worldwide. As estimated, businesses in that segment recorded an EV/EBITDA multiple of 32x. This figure was almost double that of the global online travel agencies segment, which had an EV/EBITDA multiple of 18.1x as of December 2024.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December 31, 2024; 451 companies</a:t>
            </a:r>
          </a:p>
          <a:p>
            <a:r>
              <a:rPr sz="600" b="1">
                <a:solidFill>
                  <a:srgbClr val="0F2741"/>
                </a:solidFill>
                <a:latin typeface="Open Sans"/>
              </a:rPr>
              <a:t>Source(s): </a:t>
            </a:r>
            <a:r>
              <a:rPr sz="600" b="0">
                <a:solidFill>
                  <a:srgbClr val="0F2741"/>
                </a:solidFill>
                <a:latin typeface="Open Sans"/>
              </a:rPr>
              <a:t>AGC Partners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800"/>
          <a:ext cx="11016000" cy="2590800"/>
        </p:xfrm>
        <a:graphic>
          <a:graphicData uri="http://schemas.openxmlformats.org/drawingml/2006/table">
            <a:tbl>
              <a:tblPr firstRow="1" bandRow="1">
                <a:tableStyleId>{5C22544A-7EE6-4342-B048-85BDC9FD1C3A}</a:tableStyleId>
              </a:tblPr>
              <a:tblGrid>
                <a:gridCol w="6053150"/>
                <a:gridCol w="496285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EV/2024 EBITDA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SaaS (hospitality market)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32x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Global online travel agencies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18.1x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Ride share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16.3x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Lodging</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15.6x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Metasearch</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14.9x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B2B transactional</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12.7x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Leisure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Niche online travel agencies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9.6x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Airlines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6.4x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Estimated enterprise value to EBITDA (EV/EBITDA) ratio in the online travel market worldwide as of December 2024, by segment</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Estimated EV/EBITDA ratio in the online travel market 2024, by segment</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Selected trends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06</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An April 2024 study analyzed the tech investments finalized by 60 leading global travel and mobility corporations since 2018. According to the analysis, artificial intelligence (AI) and machine learning (ML) accounted for nearly two-thirds of all deals over the period considered. The internet of things (IoT) and immersive tech followed among the main tech investments, representing 13 percent and 10 percent of deals,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2018 to 2024; 60 leading travel and mobility corporations¹</a:t>
            </a:r>
          </a:p>
          <a:p>
            <a:r>
              <a:rPr sz="600" b="1">
                <a:solidFill>
                  <a:srgbClr val="0F2741"/>
                </a:solidFill>
                <a:latin typeface="Open Sans"/>
              </a:rPr>
              <a:t>Source(s): </a:t>
            </a:r>
            <a:r>
              <a:rPr sz="600" b="0">
                <a:solidFill>
                  <a:srgbClr val="0F2741"/>
                </a:solidFill>
                <a:latin typeface="Open Sans"/>
              </a:rPr>
              <a:t>LIH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320100" y="1882800"/>
            <a:ext cx="15494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deals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tech investment deals by travel and mobility corporations worldwide between 2018 and 2024, by area of investment</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tech investments by travel and mobility corporations worldwide 2018-2024</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2023 survey analyzed the use of AI chatbots via mobile devices to plan or research travel across 15 markets worldwide. Among the selected countries, the United States reported the highest share of travelers using AI via either a phone or tablet for travel planning reasons, with 63 percent of respondents reporting doing so. On the other, just five percent of surveyed Japanese travelers mentioned doing the same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October 2023¹; 18,000 respondents; mobile device refers to either a phone or tablet </a:t>
            </a:r>
          </a:p>
          <a:p>
            <a:r>
              <a:rPr sz="600" b="1">
                <a:solidFill>
                  <a:srgbClr val="0F2741"/>
                </a:solidFill>
                <a:latin typeface="Open Sans"/>
              </a:rPr>
              <a:t>Source(s): </a:t>
            </a:r>
            <a:r>
              <a:rPr sz="600" b="0">
                <a:solidFill>
                  <a:srgbClr val="0F2741"/>
                </a:solidFill>
                <a:latin typeface="Open Sans"/>
              </a:rPr>
              <a:t>Skyscanner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41</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travelers who used a mobile device to plan or research travel with an AI chatbot worldwide as of October 2023, by country</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Use of mobile devices to plan travel with an AI chatbot worldwide 2023, by country</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UN Intergovernmental Panel on Climate Change (IPCC) released a special report in 2018 stating that the world has just over a decade to restrict global warming to 1.5°C above pre-industrial levels, beyond which the risk of floods, droughts and extreme heat will significantly worsen. With a growing awareness of climate change people are becoming more environmentally conscious. According to the source, as of February 2024, 83 percent of travelers worldwide believe that sustainable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February 2024; 31,550 respondents across 34 countries and territories; 18 years and older; all respondents had to have taken a trip in the last 12 months/plan to take a trip in the next 12 months and be either the primary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Booking.com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travelers that believe sustainable travel is important worldwide in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travelers who believe in the importance of green travel 2024</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2024 survey found that 32 percent of global travelers chose sustainable travel primarily because they believed it was the right thing to do, making this the most common motivation. In contrast, only seven percent of respondents said they were motivated by the belief that traveling sustainably would make their trip more fun.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February 2024; 31,550 respondents across 34 countries and territories; 18 years and older; All respondents had to have taken a trip in the last 12 months/plan to take a trip in the next 12 months.</a:t>
            </a:r>
          </a:p>
          <a:p>
            <a:r>
              <a:rPr sz="600" b="1">
                <a:solidFill>
                  <a:srgbClr val="0F2741"/>
                </a:solidFill>
                <a:latin typeface="Open Sans"/>
              </a:rPr>
              <a:t>Source(s): </a:t>
            </a:r>
            <a:r>
              <a:rPr sz="600" b="0">
                <a:solidFill>
                  <a:srgbClr val="0F2741"/>
                </a:solidFill>
                <a:latin typeface="Open Sans"/>
              </a:rPr>
              <a:t>Booking.com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43</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Factors that inspire eco-friendly travel worldwide as of February 2024</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Reasons for traveling sustainably worldwide 2024</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total revenue of Airbnb reached 11.1 billion U.S. dollars in 2024. This was an increase over the previous year's total of 9.92 billion. The decrease in revenue in 2020 can be attributed to the coronavirus (COVID-19) pandemic, which caused travel disruption across the globe. When breaking down Airbnb revenue by region, North America, where Airbnb was founded, brought in the most revenue in 2024.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2024</a:t>
            </a:r>
          </a:p>
          <a:p>
            <a:r>
              <a:rPr sz="600" b="1">
                <a:solidFill>
                  <a:srgbClr val="0F2741"/>
                </a:solidFill>
                <a:latin typeface="Open Sans"/>
              </a:rPr>
              <a:t>Source(s): </a:t>
            </a:r>
            <a:r>
              <a:rPr sz="600" b="0">
                <a:solidFill>
                  <a:srgbClr val="0F2741"/>
                </a:solidFill>
                <a:latin typeface="Open Sans"/>
              </a:rPr>
              <a:t>Airbnb; U.S. Securities and Exchange Commission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Revenue of Airbnb from 2017 to 2024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Airbnb revenue 2017-2024</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Airbnb, a home sharing economy platform, gives users an alternative to traditional hotel accommodation by allowing them to rent accommodation from people who are willing to share their homes. The platform also allows consumers to book "experiences" in the regions they visit. In 2024, Airbnb reported over 492 million booked nights and experiences.How much revenue does Airbnb make? In 2024, the total revenue of Airbnb worldwide increased by nearly ten percent over the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2024</a:t>
            </a:r>
          </a:p>
          <a:p>
            <a:r>
              <a:rPr sz="600" b="1">
                <a:solidFill>
                  <a:srgbClr val="0F2741"/>
                </a:solidFill>
                <a:latin typeface="Open Sans"/>
              </a:rPr>
              <a:t>Source(s): </a:t>
            </a:r>
            <a:r>
              <a:rPr sz="600" b="0">
                <a:solidFill>
                  <a:srgbClr val="0F2741"/>
                </a:solidFill>
                <a:latin typeface="Open Sans"/>
              </a:rPr>
              <a:t>Airbnb; U.S. Securities and Exchange Commission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Nights and experiences booked with Airbnb from 2017 to 2024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Airbnb nights and experiences booked worldwide 2017-2024</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Outlook</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07</a:t>
            </a:r>
          </a:p>
        </p:txBody>
      </p:sp>
    </p:spTree>
  </p:cSld>
  <p:clrMapOvr>
    <a:masterClrMapping/>
  </p:clrMapOvr>
  <p:transition/>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Over the last two observations, the revenue is forecast to significantly increase in all segments. As part of the positive trend, the revenue achieves the maximum value across all five different segments by the end of the comparison period. Notably, the segment Hotels stands out with the highest value of 511.91 billion U.S. dollars.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2020 to 2029</a:t>
            </a:r>
          </a:p>
          <a:p>
            <a:r>
              <a:rPr sz="600" b="1">
                <a:solidFill>
                  <a:srgbClr val="0F2741"/>
                </a:solidFill>
                <a:latin typeface="Open Sans"/>
              </a:rPr>
              <a:t>Source(s): </a:t>
            </a:r>
            <a:r>
              <a:rPr sz="600" b="0">
                <a:solidFill>
                  <a:srgbClr val="0F2741"/>
                </a:solidFill>
                <a:latin typeface="Open Sans"/>
              </a:rPr>
              <a:t>Statista; Statista Mobility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Revenue of the travel and tourism market worldwide from 2020 to 2029, by segment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Travel and tourism revenue worldwide 2020-2029, by segment</a:t>
            </a:r>
          </a:p>
        </p:txBody>
      </p:sp>
    </p:spTree>
  </p:cSld>
  <p:clrMapOvr>
    <a:masterClrMapping/>
  </p:clrMapOvr>
  <p:transition/>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Significant fluctuations are estimated for all segments over the forecast period for the sales channel distribution share. Only in the segment Online, a significant increase can be observed over the forecast period. In this segment, the sales channel distribution share exhibits a difference of 12.23 percent between 2019 and 2029.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a:t>
            </a:r>
          </a:p>
          <a:p>
            <a:r>
              <a:rPr sz="600" b="1">
                <a:solidFill>
                  <a:srgbClr val="0F2741"/>
                </a:solidFill>
                <a:latin typeface="Open Sans"/>
              </a:rPr>
              <a:t>Source(s): </a:t>
            </a:r>
            <a:r>
              <a:rPr sz="600" b="0">
                <a:solidFill>
                  <a:srgbClr val="0F2741"/>
                </a:solidFill>
                <a:latin typeface="Open Sans"/>
              </a:rPr>
              <a:t>Statista; Statista Mobility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Revenue share of sales channels of the travel and tourism market worldwide from 2019 to 2029</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Distribution of sales channels in the travel and tourism market worldwide 2019-2029</a:t>
            </a:r>
          </a:p>
        </p:txBody>
      </p:sp>
    </p:spTree>
  </p:cSld>
  <p:clrMapOvr>
    <a:masterClrMapping/>
  </p:clrMapOvr>
  <p:transition/>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2025 study, the number of inbound tourist arrivals worldwide was expected to grow across all regions in that year. In 2025, the Asia-Pacific region was predicted to report the highest inbound tourism growth, with a 22.3 percent year-on-year increase in inbound visitors.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2020 to 2022</a:t>
            </a:r>
          </a:p>
          <a:p>
            <a:r>
              <a:rPr sz="600" b="1">
                <a:solidFill>
                  <a:srgbClr val="0F2741"/>
                </a:solidFill>
                <a:latin typeface="Open Sans"/>
              </a:rPr>
              <a:t>Source(s): </a:t>
            </a:r>
            <a:r>
              <a:rPr sz="600" b="0">
                <a:solidFill>
                  <a:srgbClr val="0F2741"/>
                </a:solidFill>
                <a:latin typeface="Open Sans"/>
              </a:rPr>
              <a:t>European Travel Commission; Tourism Economics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Inbound tourism visitor growth worldwide from 2020 to 2022, with a forecast until 2025,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Inbound tourism visitor growth worldwide 2020-2025, by region</a:t>
            </a:r>
          </a:p>
        </p:txBody>
      </p:sp>
    </p:spTree>
  </p:cSld>
  <p:clrMapOvr>
    <a:masterClrMapping/>
  </p:clrMapOvr>
  <p:transition/>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2025 study, the number of outbound tourist visits worldwide was expected to grow across all regions in that year. In 2025, the Asia-Pacific region was forecast to record the highest outbound tourism growth, with a 22.6 percent annual increase in outbound trips.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2020 to 2022</a:t>
            </a:r>
          </a:p>
          <a:p>
            <a:r>
              <a:rPr sz="600" b="1">
                <a:solidFill>
                  <a:srgbClr val="0F2741"/>
                </a:solidFill>
                <a:latin typeface="Open Sans"/>
              </a:rPr>
              <a:t>Source(s): </a:t>
            </a:r>
            <a:r>
              <a:rPr sz="600" b="0">
                <a:solidFill>
                  <a:srgbClr val="0F2741"/>
                </a:solidFill>
                <a:latin typeface="Open Sans"/>
              </a:rPr>
              <a:t>European Travel Commission; Tourism Economics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Outbound tourism visitor growth worldwide from 2020 to 2022, with a forecast until 2025,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Outbound tourism visitor growth worldwide 2020-2025, by region</a:t>
            </a:r>
          </a:p>
        </p:txBody>
      </p:sp>
    </p:spTree>
  </p:cSld>
  <p:clrMapOvr>
    <a:masterClrMapping/>
  </p:clrMapOvr>
  <p:transition/>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51</a:t>
            </a:r>
          </a:p>
        </p:txBody>
      </p:sp>
      <p:sp>
        <p:nvSpPr>
          <p:cNvPr id="7" name="New shape" titl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ACI</a:t>
            </a:r>
          </a:p>
        </p:txBody>
      </p:sp>
      <p:sp>
        <p:nvSpPr>
          <p:cNvPr id="8" name="New shape" titl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AECOM</a:t>
            </a:r>
          </a:p>
        </p:txBody>
      </p:sp>
      <p:sp>
        <p:nvSpPr>
          <p:cNvPr id="9" name="New shape" titl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AGC Partners</a:t>
            </a:r>
          </a:p>
        </p:txBody>
      </p:sp>
      <p:sp>
        <p:nvSpPr>
          <p:cNvPr id="10" name="New shape" titl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Airbnb</a:t>
            </a:r>
          </a:p>
        </p:txBody>
      </p:sp>
      <p:sp>
        <p:nvSpPr>
          <p:cNvPr id="11" name="New shape" titl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AppMagic</a:t>
            </a:r>
          </a:p>
        </p:txBody>
      </p:sp>
      <p:sp>
        <p:nvSpPr>
          <p:cNvPr id="12" name="New shape" titl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Booking.com</a:t>
            </a:r>
          </a:p>
        </p:txBody>
      </p:sp>
      <p:sp>
        <p:nvSpPr>
          <p:cNvPr id="13" name="New shape" titl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Brand Finance</a:t>
            </a:r>
          </a:p>
        </p:txBody>
      </p:sp>
      <p:sp>
        <p:nvSpPr>
          <p:cNvPr id="14" name="New shape" titl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BRTData</a:t>
            </a:r>
          </a:p>
        </p:txBody>
      </p:sp>
      <p:sp>
        <p:nvSpPr>
          <p:cNvPr id="15" name="New shape" titl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European Travel Commission</a:t>
            </a:r>
          </a:p>
        </p:txBody>
      </p:sp>
      <p:sp>
        <p:nvSpPr>
          <p:cNvPr id="16" name="New shape" titl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FactSet</a:t>
            </a:r>
          </a:p>
        </p:txBody>
      </p:sp>
      <p:sp>
        <p:nvSpPr>
          <p:cNvPr id="17" name="New shape" titl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Forbes</a:t>
            </a:r>
          </a:p>
        </p:txBody>
      </p:sp>
      <p:sp>
        <p:nvSpPr>
          <p:cNvPr id="18" name="New shape" titl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GBTA</a:t>
            </a:r>
          </a:p>
        </p:txBody>
      </p:sp>
      <p:sp>
        <p:nvSpPr>
          <p:cNvPr id="19" name="New shape" titl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Hotel Management</a:t>
            </a:r>
          </a:p>
        </p:txBody>
      </p:sp>
      <p:sp>
        <p:nvSpPr>
          <p:cNvPr id="20" name="New shape" titl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IBISWorld</a:t>
            </a:r>
          </a:p>
        </p:txBody>
      </p:sp>
      <p:sp>
        <p:nvSpPr>
          <p:cNvPr id="21" name="New shape" titl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International Airport Review</a:t>
            </a:r>
          </a:p>
        </p:txBody>
      </p:sp>
      <p:sp>
        <p:nvSpPr>
          <p:cNvPr id="22" name="New shape" titl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LIH</a:t>
            </a:r>
          </a:p>
        </p:txBody>
      </p:sp>
      <p:sp>
        <p:nvSpPr>
          <p:cNvPr id="23" name="New shape" titl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Lodging Econometrics</a:t>
            </a:r>
          </a:p>
        </p:txBody>
      </p:sp>
      <p:sp>
        <p:nvSpPr>
          <p:cNvPr id="24" name="New shape" titl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Michelin</a:t>
            </a:r>
          </a:p>
        </p:txBody>
      </p:sp>
      <p:sp>
        <p:nvSpPr>
          <p:cNvPr id="25" name="New shape" titl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Oxford Economics</a:t>
            </a:r>
          </a:p>
        </p:txBody>
      </p:sp>
      <p:sp>
        <p:nvSpPr>
          <p:cNvPr id="26" name="New shape" title=""/>
          <p:cNvSpPr/>
          <p:nvPr/>
        </p:nvSpPr>
        <p:spPr>
          <a:xfrm>
            <a:off x="496800" y="511171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Reuters</a:t>
            </a:r>
          </a:p>
        </p:txBody>
      </p:sp>
      <p:sp>
        <p:nvSpPr>
          <p:cNvPr id="27" name="New shape" title=""/>
          <p:cNvSpPr/>
          <p:nvPr/>
        </p:nvSpPr>
        <p:spPr>
          <a:xfrm>
            <a:off x="496800" y="528166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Skyscanner</a:t>
            </a:r>
          </a:p>
        </p:txBody>
      </p:sp>
      <p:sp>
        <p:nvSpPr>
          <p:cNvPr id="28" name="New shape" title=""/>
          <p:cNvSpPr/>
          <p:nvPr/>
        </p:nvSpPr>
        <p:spPr>
          <a:xfrm>
            <a:off x="496800" y="545160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a:t>
            </a:r>
          </a:p>
        </p:txBody>
      </p:sp>
      <p:sp>
        <p:nvSpPr>
          <p:cNvPr id="29" name="New shape" title=""/>
          <p:cNvSpPr/>
          <p:nvPr/>
        </p:nvSpPr>
        <p:spPr>
          <a:xfrm>
            <a:off x="6094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Mobility Market Insights</a:t>
            </a:r>
          </a:p>
        </p:txBody>
      </p:sp>
      <p:sp>
        <p:nvSpPr>
          <p:cNvPr id="30" name="New shape" title=""/>
          <p:cNvSpPr/>
          <p:nvPr/>
        </p:nvSpPr>
        <p:spPr>
          <a:xfrm>
            <a:off x="6094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Themed Entertainment Association</a:t>
            </a:r>
          </a:p>
        </p:txBody>
      </p:sp>
      <p:sp>
        <p:nvSpPr>
          <p:cNvPr id="31" name="New shape" title=""/>
          <p:cNvSpPr/>
          <p:nvPr/>
        </p:nvSpPr>
        <p:spPr>
          <a:xfrm>
            <a:off x="6094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Tourism Economics</a:t>
            </a:r>
          </a:p>
        </p:txBody>
      </p:sp>
      <p:sp>
        <p:nvSpPr>
          <p:cNvPr id="32" name="New shape" title=""/>
          <p:cNvSpPr/>
          <p:nvPr/>
        </p:nvSpPr>
        <p:spPr>
          <a:xfrm>
            <a:off x="6094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Travel tech essentialist</a:t>
            </a:r>
          </a:p>
        </p:txBody>
      </p:sp>
      <p:sp>
        <p:nvSpPr>
          <p:cNvPr id="33" name="New shape" title=""/>
          <p:cNvSpPr/>
          <p:nvPr/>
        </p:nvSpPr>
        <p:spPr>
          <a:xfrm>
            <a:off x="6094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U.S. Securities and Exchange Commission</a:t>
            </a:r>
          </a:p>
        </p:txBody>
      </p:sp>
      <p:sp>
        <p:nvSpPr>
          <p:cNvPr id="34" name="New shape" title=""/>
          <p:cNvSpPr/>
          <p:nvPr/>
        </p:nvSpPr>
        <p:spPr>
          <a:xfrm>
            <a:off x="6094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UNESCO</a:t>
            </a:r>
          </a:p>
        </p:txBody>
      </p:sp>
      <p:sp>
        <p:nvSpPr>
          <p:cNvPr id="35" name="New shape" title=""/>
          <p:cNvSpPr/>
          <p:nvPr/>
        </p:nvSpPr>
        <p:spPr>
          <a:xfrm>
            <a:off x="6094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Various sources</a:t>
            </a:r>
          </a:p>
        </p:txBody>
      </p:sp>
      <p:sp>
        <p:nvSpPr>
          <p:cNvPr id="36" name="New shape" title=""/>
          <p:cNvSpPr/>
          <p:nvPr/>
        </p:nvSpPr>
        <p:spPr>
          <a:xfrm>
            <a:off x="6094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Various sources (UNEP, WMO, ITF, IEA, IATA, Amadeus)</a:t>
            </a:r>
          </a:p>
        </p:txBody>
      </p:sp>
      <p:sp>
        <p:nvSpPr>
          <p:cNvPr id="37" name="New shape" title=""/>
          <p:cNvSpPr/>
          <p:nvPr/>
        </p:nvSpPr>
        <p:spPr>
          <a:xfrm>
            <a:off x="6094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Visa Inc.</a:t>
            </a:r>
          </a:p>
        </p:txBody>
      </p:sp>
      <p:sp>
        <p:nvSpPr>
          <p:cNvPr id="38" name="New shape" title=""/>
          <p:cNvSpPr/>
          <p:nvPr/>
        </p:nvSpPr>
        <p:spPr>
          <a:xfrm>
            <a:off x="6094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World Tourism Organization (UN Tourism)</a:t>
            </a:r>
          </a:p>
        </p:txBody>
      </p:sp>
      <p:sp>
        <p:nvSpPr>
          <p:cNvPr id="39" name="New shape" title=""/>
          <p:cNvSpPr/>
          <p:nvPr/>
        </p:nvSpPr>
        <p:spPr>
          <a:xfrm>
            <a:off x="6094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Worldwatch Institute</a:t>
            </a:r>
          </a:p>
        </p:txBody>
      </p:sp>
      <p:sp>
        <p:nvSpPr>
          <p:cNvPr id="40" name="New shape" title=""/>
          <p:cNvSpPr/>
          <p:nvPr/>
        </p:nvSpPr>
        <p:spPr>
          <a:xfrm>
            <a:off x="6094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WTTC</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4C9FD2D6CC8F40AC4013498F33859F" ma:contentTypeVersion="12" ma:contentTypeDescription="Create a new document." ma:contentTypeScope="" ma:versionID="6bf2ff7812e96d7e9d4d06bdc55d645e">
  <xsd:schema xmlns:xsd="http://www.w3.org/2001/XMLSchema" xmlns:xs="http://www.w3.org/2001/XMLSchema" xmlns:p="http://schemas.microsoft.com/office/2006/metadata/properties" xmlns:ns2="d2c392c8-e38d-42f4-bd5c-b90a697074af" xmlns:ns3="f739c96d-c4df-4db1-a19c-3a2a46006f35" targetNamespace="http://schemas.microsoft.com/office/2006/metadata/properties" ma:root="true" ma:fieldsID="e3e691bcfa2b795ad1b9f7e5e091d80c" ns2:_="" ns3:_="">
    <xsd:import namespace="d2c392c8-e38d-42f4-bd5c-b90a697074af"/>
    <xsd:import namespace="f739c96d-c4df-4db1-a19c-3a2a46006f3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c392c8-e38d-42f4-bd5c-b90a69707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f7d60f0-647e-43b7-a5df-e1fbf33b69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739c96d-c4df-4db1-a19c-3a2a46006f3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26a6327-c89d-4876-97f5-c93b33574d73}" ma:internalName="TaxCatchAll" ma:showField="CatchAllData" ma:web="f739c96d-c4df-4db1-a19c-3a2a46006f3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739c96d-c4df-4db1-a19c-3a2a46006f35" xsi:nil="true"/>
    <lcf76f155ced4ddcb4097134ff3c332f xmlns="d2c392c8-e38d-42f4-bd5c-b90a697074a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6A5B1D7-1E65-434F-88A6-50202F17CB8D}"/>
</file>

<file path=customXml/itemProps2.xml><?xml version="1.0" encoding="utf-8"?>
<ds:datastoreItem xmlns:ds="http://schemas.openxmlformats.org/officeDocument/2006/customXml" ds:itemID="{4E5042AA-1EEE-4170-963C-7FBBD2BC3748}"/>
</file>

<file path=customXml/itemProps3.xml><?xml version="1.0" encoding="utf-8"?>
<ds:datastoreItem xmlns:ds="http://schemas.openxmlformats.org/officeDocument/2006/customXml" ds:itemID="{1B018522-10BA-4A74-8151-467DF13F804C}"/>
</file>

<file path=docProps/app.xml><?xml version="1.0" encoding="utf-8"?>
<Properties xmlns:vt="http://schemas.openxmlformats.org/officeDocument/2006/docPropsVTypes" xmlns="http://schemas.openxmlformats.org/officeDocument/2006/extended-properties">
  <Company/>
  <PresentationFormat>On-screen Show (4:3)</PresentationFormat>
  <Paragraphs>407</Paragraphs>
  <Slides>52</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52</vt:i4>
      </vt:variant>
    </vt:vector>
  </HeadingPairs>
  <TitlesOfParts>
    <vt:vector baseType="lpstr" size="57">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cp:lastPrinted>2025-04-07T10:40:38Z</cp:lastPrinted>
  <dcterms:created xsi:type="dcterms:W3CDTF">2025-04-07T08:40:38Z</dcterms:created>
  <dcterms:modified xsi:type="dcterms:W3CDTF">2025-04-07T08:40:39Z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0x0101002A4C9FD2D6CC8F40AC4013498F33859F</vt:lpwstr>
  </property>
</Properties>
</file>